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/>
    <p:restoredTop sz="94666"/>
  </p:normalViewPr>
  <p:slideViewPr>
    <p:cSldViewPr snapToGrid="0" snapToObjects="1" showGuides="1">
      <p:cViewPr varScale="1">
        <p:scale>
          <a:sx n="83" d="100"/>
          <a:sy n="83" d="100"/>
        </p:scale>
        <p:origin x="200" y="5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A75C8-0015-1641-AE78-7DAF750FA4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3238A9-4079-414C-9736-1A13A02018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B035CF-EC5E-4C45-8CD8-B6651272D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239FE-90AD-B841-9BF1-4AFACEBFA38F}" type="datetimeFigureOut">
              <a:rPr lang="en-US" smtClean="0"/>
              <a:t>2/18/20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5B0896-FDAF-5944-8342-8A0DE2449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39476-C7C9-274C-AA22-CD5645F52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95DF6-38C7-A247-A715-EC62B6D2D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776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9158E-B82D-1D40-88A0-A840EFE5C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11A7D-CD86-E440-8A5A-C775A97D40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7D76B-E8DE-D34C-B234-E4784F971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239FE-90AD-B841-9BF1-4AFACEBFA38F}" type="datetimeFigureOut">
              <a:rPr lang="en-US" smtClean="0"/>
              <a:t>2/18/20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4190E-19CA-3E44-8359-FE410D6A8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B36E5E-2146-084D-BE34-0F9824DAD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95DF6-38C7-A247-A715-EC62B6D2D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898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327B4-FC59-4043-AAF0-E47D218EE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4A5E75-A19B-BF4C-AFF8-83AB9AF7F0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2CD1D0-2E26-3145-B91E-AE43C7203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239FE-90AD-B841-9BF1-4AFACEBFA38F}" type="datetimeFigureOut">
              <a:rPr lang="en-US" smtClean="0"/>
              <a:t>2/18/20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6C65BA-9C31-7A47-8559-0A844854A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510888-8AA7-9148-AB67-5E0460FC6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95DF6-38C7-A247-A715-EC62B6D2D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703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3E656-8C37-0F49-B972-A591E1194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94297-8763-284F-A324-3B54679BC0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DBCB2E-98A2-4D48-AECA-753EDEDF0A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A797F2-939D-F842-A372-5F54D16D9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239FE-90AD-B841-9BF1-4AFACEBFA38F}" type="datetimeFigureOut">
              <a:rPr lang="en-US" smtClean="0"/>
              <a:t>2/18/20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72DFBF-56F0-6448-BB51-DFFC9CF8F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EE573C-A3CE-1E49-9ED6-45A737EB1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95DF6-38C7-A247-A715-EC62B6D2D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78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03838-881E-D74C-BE50-0EB64F571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C3C0E4-28D1-C447-9EB1-ADA7845118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44094C-B387-3F41-B2F1-911B550661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16769C-5CE1-6F41-8D7B-D6F72B0F05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DEE0F2-555B-614E-9414-CD8C7EE0F9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870236-9BDB-FC4B-BF76-CD89D997D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239FE-90AD-B841-9BF1-4AFACEBFA38F}" type="datetimeFigureOut">
              <a:rPr lang="en-US" smtClean="0"/>
              <a:t>2/18/20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09B22E-9CC7-F748-9744-CE1C027B7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BB4315-7253-E24D-824F-46E9489CE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95DF6-38C7-A247-A715-EC62B6D2D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474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4B42F-739B-E240-AAA1-FB8E8D12C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52C4DA-77ED-314B-B9F8-A957AB7DA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239FE-90AD-B841-9BF1-4AFACEBFA38F}" type="datetimeFigureOut">
              <a:rPr lang="en-US" smtClean="0"/>
              <a:t>2/18/20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055A98-CD52-2840-8733-58D793244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5C247E-6CB7-C74A-B84A-048625275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95DF6-38C7-A247-A715-EC62B6D2D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051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FCFCD5-9773-7040-A457-7BEC749E6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239FE-90AD-B841-9BF1-4AFACEBFA38F}" type="datetimeFigureOut">
              <a:rPr lang="en-US" smtClean="0"/>
              <a:t>2/18/20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B01210-6F88-F444-905E-9E82450CD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42E9F1-68A2-C046-B085-A5AB1F2E2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95DF6-38C7-A247-A715-EC62B6D2D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304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E1682-EF0F-CC4C-AE3D-031C04B40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20F6E-9733-7B44-9B47-5DCD4CDD1B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3AD5BB-FBB7-464D-86AB-955F461FD4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1371DF-9B43-C74F-8226-A18D56C5F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239FE-90AD-B841-9BF1-4AFACEBFA38F}" type="datetimeFigureOut">
              <a:rPr lang="en-US" smtClean="0"/>
              <a:t>2/18/20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C151E7-ECB3-1646-88F2-5F22462B5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C3866C-D491-504A-AFE8-E89D695F8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95DF6-38C7-A247-A715-EC62B6D2D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756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E50FD-C916-F446-AF76-C5C88D760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C900EE-DB1E-9A4E-B055-2CDC037D55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68F2E8-2C9E-D447-801A-18607442AE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E6474E-DF3A-9944-AF91-BD8B6F237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239FE-90AD-B841-9BF1-4AFACEBFA38F}" type="datetimeFigureOut">
              <a:rPr lang="en-US" smtClean="0"/>
              <a:t>2/18/20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B3B9EA-58E4-044E-B2C6-0F8412F2F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0C9F1B-AE6A-DB4D-9004-F8E7D1CD4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95DF6-38C7-A247-A715-EC62B6D2D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98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CA30F-F4D8-9742-B144-E54E47488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968310-8E4B-2742-B4A9-AD879C2AEB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68EA1-B9F9-0C40-9DE9-653A6083E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239FE-90AD-B841-9BF1-4AFACEBFA38F}" type="datetimeFigureOut">
              <a:rPr lang="en-US" smtClean="0"/>
              <a:t>2/18/20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B4928C-967E-D446-BC61-69A1A4C7B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979B6-EFC0-D146-808D-53CC2666B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95DF6-38C7-A247-A715-EC62B6D2D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417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DC2B7F-590A-7D48-BEB1-75258D7DAF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E118B6-5466-BD43-A2EB-57DB6596D2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64D865-22B2-194C-BBE7-0A9135151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239FE-90AD-B841-9BF1-4AFACEBFA38F}" type="datetimeFigureOut">
              <a:rPr lang="en-US" smtClean="0"/>
              <a:t>2/18/20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FC3F49-AEC2-3A4D-B2C4-3B99CDB85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6BC509-9B26-DF44-AE22-03914ACEF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95DF6-38C7-A247-A715-EC62B6D2D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419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05E4D9-F0E8-FB48-A18E-F3212D8C5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151D42-CD5D-9248-B8D4-8B288F61FE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127824-A461-A14C-9885-68AE88A3D9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9239FE-90AD-B841-9BF1-4AFACEBFA38F}" type="datetimeFigureOut">
              <a:rPr lang="en-US" smtClean="0"/>
              <a:t>2/18/20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88C46-7B09-2B4E-86F6-8B0A54AC51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0F3D2-4794-B544-8159-EA57FA6132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C95DF6-38C7-A247-A715-EC62B6D2D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925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harrell.com/post/classification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cbi.nlm.nih.gov/pubmed/31899451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7eHumx3-xR0" TargetMode="External"/><Relationship Id="rId7" Type="http://schemas.openxmlformats.org/officeDocument/2006/relationships/hyperlink" Target="https://www.fharrell.com/post/classification/" TargetMode="External"/><Relationship Id="rId2" Type="http://schemas.openxmlformats.org/officeDocument/2006/relationships/hyperlink" Target="https://www.r-bloggers.com/a-small-introduction-to-the-rocr-package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knime.com/blog/correcting-predicted-class-probabilities-in-imbalanced-datasets" TargetMode="External"/><Relationship Id="rId5" Type="http://schemas.openxmlformats.org/officeDocument/2006/relationships/hyperlink" Target="https://en.wikipedia.org/wiki/Receiver_operating_characteristic" TargetMode="External"/><Relationship Id="rId4" Type="http://schemas.openxmlformats.org/officeDocument/2006/relationships/hyperlink" Target="https://towardsdatascience.com/understanding-auc-roc-curve-68b2303cc9c5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A75C8-0015-1641-AE78-7DAF750FA4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marL="0" lvl="0" indent="0">
              <a:buNone/>
            </a:pPr>
            <a:r>
              <a:t>Class Six–Logistic regression as a classifier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3238A9-4079-414C-9736-1A13A02018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marL="0" lvl="0" indent="0">
              <a:buNone/>
            </a:pPr>
            <a:br/>
            <a:br/>
            <a:r>
              <a:t>Kim Johnson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B035CF-EC5E-4C45-8CD8-B6651272D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t>February 19, 2020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9158E-B82D-1D40-88A0-A840EFE5C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11A7D-CD86-E440-8A5A-C775A97D40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Review of sensitivity, specificity, positive and negative predictive values</a:t>
            </a:r>
          </a:p>
          <a:p>
            <a:pPr lvl="1"/>
            <a:r>
              <a:t>Understand distinction between use of logistic regression for risk prediction vs. classification</a:t>
            </a:r>
          </a:p>
          <a:p>
            <a:pPr lvl="1"/>
            <a:r>
              <a:t>Understand how ROC curves can be used to evaluate model classification performance</a:t>
            </a:r>
          </a:p>
          <a:p>
            <a:pPr lvl="1"/>
            <a:r>
              <a:t>Understand limitations of logistic as a classifier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9158E-B82D-1D40-88A0-A840EFE5C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What is validity?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11A7D-CD86-E440-8A5A-C775A97D40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The ability of a test to distinguish between who has a disease and who does not (Xzklo and Nieto)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9158E-B82D-1D40-88A0-A840EFE5C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Recall 2 x 2 table set-up for calculating measures of validity</a:t>
            </a:r>
          </a:p>
        </p:txBody>
      </p:sp>
      <p:pic>
        <p:nvPicPr>
          <p:cNvPr id="3" name="Picture 1" descr="Validity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200400" y="1816100"/>
            <a:ext cx="5791200" cy="3835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838200" y="5651500"/>
            <a:ext cx="10515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Sensitivity and Specificity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9158E-B82D-1D40-88A0-A840EFE5C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Positive and negative predictive values</a:t>
            </a:r>
          </a:p>
        </p:txBody>
      </p:sp>
      <p:pic>
        <p:nvPicPr>
          <p:cNvPr id="3" name="Picture 1" descr="PVs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162300" y="1816100"/>
            <a:ext cx="5880100" cy="3835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838200" y="5651500"/>
            <a:ext cx="10515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Predictive values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9158E-B82D-1D40-88A0-A840EFE5C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Cutpoints for continous variables impact on sensitivity and specificity</a:t>
            </a:r>
          </a:p>
        </p:txBody>
      </p:sp>
      <p:pic>
        <p:nvPicPr>
          <p:cNvPr id="3" name="Picture 1" descr="Validity2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200400" y="1816100"/>
            <a:ext cx="5803900" cy="3835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838200" y="5651500"/>
            <a:ext cx="10515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Thresholds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9158E-B82D-1D40-88A0-A840EFE5C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Prediction vs. 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11A7D-CD86-E440-8A5A-C775A97D40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b="1"/>
              <a:t>Prediction</a:t>
            </a:r>
            <a:r>
              <a:t> is a tendency (probablistic) of whether a condition or set of conditions poses a higher or lower risk of a characteristic</a:t>
            </a:r>
            <a:br/>
            <a:endParaRPr/>
          </a:p>
          <a:p>
            <a:pPr lvl="1"/>
            <a:r>
              <a:rPr b="1"/>
              <a:t>Classification</a:t>
            </a:r>
            <a:r>
              <a:t> is a decision of whether a condition or set of conditions indicates a a characteristic or not</a:t>
            </a:r>
            <a:br/>
            <a:endParaRPr/>
          </a:p>
          <a:p>
            <a:pPr lvl="1"/>
            <a:r>
              <a:t>In epidemiology and biostatistics, most of our work deals with prediction or associations rather than classification</a:t>
            </a:r>
            <a:br/>
            <a:endParaRPr/>
          </a:p>
          <a:p>
            <a:pPr lvl="1"/>
            <a:r>
              <a:t>“When close calls are possible, or when there is inherent randomness to the outcomes, probability estimates are called for.” (</a:t>
            </a:r>
            <a:r>
              <a:rPr>
                <a:hlinkClick r:id="rId2"/>
              </a:rPr>
              <a:t>https://www.fharrell.com/post/classification/</a:t>
            </a:r>
            <a:r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9158E-B82D-1D40-88A0-A840EFE5C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Logistic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11A7D-CD86-E440-8A5A-C775A97D40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We can use a logistic regression model to help distinguish between those who have a characteristic and those who do not have a characteristic</a:t>
            </a:r>
          </a:p>
          <a:p>
            <a:pPr lvl="1"/>
            <a:r>
              <a:t>In this case we are using it as a classifier rather than a model to estimate associations between an exposure and an outcome</a:t>
            </a:r>
          </a:p>
          <a:p>
            <a:pPr lvl="1"/>
            <a:r>
              <a:t>We can evaluate the validity of the model using different measures including sensitivity, specificity, PPV, accuracy, Receiver operating characteristic curves (ROC) and AUC values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9158E-B82D-1D40-88A0-A840EFE5C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Examples</a:t>
            </a:r>
          </a:p>
        </p:txBody>
      </p:sp>
      <p:pic>
        <p:nvPicPr>
          <p:cNvPr id="3" name="Picture 1" descr="https://miro.medium.com/max/1840/1*hsyCZOYoGrX6BJsj4Lgrhg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89100" y="1816100"/>
            <a:ext cx="8826500" cy="3835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838200" y="5651500"/>
            <a:ext cx="10515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Spam email or not?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11A7D-CD86-E440-8A5A-C775A97D40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 - opiod misuse or not? </a:t>
            </a:r>
            <a:r>
              <a:rPr>
                <a:hlinkClick r:id="rId2"/>
              </a:rPr>
              <a:t>https://www.ncbi.nlm.nih.gov/pubmed/31899451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9158E-B82D-1D40-88A0-A840EFE5C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Let’s use logistic regression as a classifier for diabetes in the BRFSS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11A7D-CD86-E440-8A5A-C775A97D40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270000" lvl="0" indent="0">
              <a:buNone/>
            </a:pPr>
            <a:r>
              <a:rPr sz="1800" i="1">
                <a:solidFill>
                  <a:srgbClr val="60A0B0"/>
                </a:solidFill>
                <a:latin typeface="Courier"/>
              </a:rPr>
              <a:t>#install.packages("tidyverse")</a:t>
            </a:r>
            <a:br/>
            <a:r>
              <a:rPr sz="1800" i="1">
                <a:solidFill>
                  <a:srgbClr val="60A0B0"/>
                </a:solidFill>
                <a:latin typeface="Courier"/>
              </a:rPr>
              <a:t>#install.packages("haven")</a:t>
            </a:r>
            <a:br/>
            <a:r>
              <a:rPr sz="1800" i="1">
                <a:solidFill>
                  <a:srgbClr val="60A0B0"/>
                </a:solidFill>
                <a:latin typeface="Courier"/>
              </a:rPr>
              <a:t>#install.packages("ROCR")</a:t>
            </a:r>
            <a:br/>
            <a:r>
              <a:rPr sz="1800" i="1">
                <a:solidFill>
                  <a:srgbClr val="60A0B0"/>
                </a:solidFill>
                <a:latin typeface="Courier"/>
              </a:rPr>
              <a:t>#install.packages("odds.n.ends")</a:t>
            </a:r>
            <a:br/>
            <a:r>
              <a:rPr sz="1800" b="1">
                <a:solidFill>
                  <a:srgbClr val="007020"/>
                </a:solidFill>
                <a:latin typeface="Courier"/>
              </a:rPr>
              <a:t>library</a:t>
            </a:r>
            <a:r>
              <a:rPr sz="1800">
                <a:latin typeface="Courier"/>
              </a:rPr>
              <a:t>(dplyr)</a:t>
            </a:r>
            <a:br/>
            <a:r>
              <a:rPr sz="1800" b="1">
                <a:solidFill>
                  <a:srgbClr val="007020"/>
                </a:solidFill>
                <a:latin typeface="Courier"/>
              </a:rPr>
              <a:t>library</a:t>
            </a:r>
            <a:r>
              <a:rPr sz="1800">
                <a:latin typeface="Courier"/>
              </a:rPr>
              <a:t>(haven)</a:t>
            </a:r>
            <a:br/>
            <a:r>
              <a:rPr sz="1800" b="1">
                <a:solidFill>
                  <a:srgbClr val="007020"/>
                </a:solidFill>
                <a:latin typeface="Courier"/>
              </a:rPr>
              <a:t>library</a:t>
            </a:r>
            <a:r>
              <a:rPr sz="1800">
                <a:latin typeface="Courier"/>
              </a:rPr>
              <a:t>(ROCR)</a:t>
            </a:r>
            <a:br/>
            <a:r>
              <a:rPr sz="1800" b="1">
                <a:solidFill>
                  <a:srgbClr val="007020"/>
                </a:solidFill>
                <a:latin typeface="Courier"/>
              </a:rPr>
              <a:t>library</a:t>
            </a:r>
            <a:r>
              <a:rPr sz="1800">
                <a:latin typeface="Courier"/>
              </a:rPr>
              <a:t>(odds.n.ends)</a:t>
            </a:r>
            <a:br/>
            <a:r>
              <a:rPr sz="1800" b="1">
                <a:solidFill>
                  <a:srgbClr val="007020"/>
                </a:solidFill>
                <a:latin typeface="Courier"/>
              </a:rPr>
              <a:t>library</a:t>
            </a:r>
            <a:r>
              <a:rPr sz="1800">
                <a:latin typeface="Courier"/>
              </a:rPr>
              <a:t>(ggplot2)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9158E-B82D-1D40-88A0-A840EFE5C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Load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11A7D-CD86-E440-8A5A-C775A97D40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270000" lvl="0" indent="0">
              <a:buNone/>
            </a:pPr>
            <a:r>
              <a:rPr sz="1800">
                <a:latin typeface="Courier"/>
              </a:rPr>
              <a:t>BRFSS &lt;-</a:t>
            </a:r>
            <a:r>
              <a:rPr sz="1800">
                <a:solidFill>
                  <a:srgbClr val="4070A0"/>
                </a:solidFill>
                <a:latin typeface="Courier"/>
              </a:rPr>
              <a:t> </a:t>
            </a:r>
            <a:r>
              <a:rPr sz="1800" b="1">
                <a:solidFill>
                  <a:srgbClr val="007020"/>
                </a:solidFill>
                <a:latin typeface="Courier"/>
              </a:rPr>
              <a:t>read.csv</a:t>
            </a:r>
            <a:r>
              <a:rPr sz="1800">
                <a:latin typeface="Courier"/>
              </a:rPr>
              <a:t>(</a:t>
            </a:r>
            <a:r>
              <a:rPr sz="1800">
                <a:solidFill>
                  <a:srgbClr val="4070A0"/>
                </a:solidFill>
                <a:latin typeface="Courier"/>
              </a:rPr>
              <a:t>"https://raw.githubusercontent.com/kijohnson/ADA_Spring_2019/master/BRFSS2017_10percent_v2.csv"</a:t>
            </a:r>
            <a:r>
              <a:rPr sz="1800">
                <a:latin typeface="Courier"/>
              </a:rPr>
              <a:t>)</a:t>
            </a:r>
          </a:p>
          <a:p>
            <a:pPr marL="1270000" lvl="0" indent="0">
              <a:buNone/>
            </a:pPr>
            <a:r>
              <a:rPr sz="1800" i="1">
                <a:solidFill>
                  <a:srgbClr val="60A0B0"/>
                </a:solidFill>
                <a:latin typeface="Courier"/>
              </a:rPr>
              <a:t>#check type of variable</a:t>
            </a:r>
            <a:br/>
            <a:r>
              <a:rPr sz="1800" b="1">
                <a:solidFill>
                  <a:srgbClr val="007020"/>
                </a:solidFill>
                <a:latin typeface="Courier"/>
              </a:rPr>
              <a:t>class</a:t>
            </a:r>
            <a:r>
              <a:rPr sz="1800">
                <a:latin typeface="Courier"/>
              </a:rPr>
              <a:t>(BRFSS</a:t>
            </a:r>
            <a:r>
              <a:rPr sz="1800">
                <a:solidFill>
                  <a:srgbClr val="666666"/>
                </a:solidFill>
                <a:latin typeface="Courier"/>
              </a:rPr>
              <a:t>$</a:t>
            </a:r>
            <a:r>
              <a:rPr sz="1800">
                <a:latin typeface="Courier"/>
              </a:rPr>
              <a:t>diabetes)</a:t>
            </a:r>
            <a:br/>
            <a:br/>
            <a:r>
              <a:rPr sz="1800" i="1">
                <a:solidFill>
                  <a:srgbClr val="60A0B0"/>
                </a:solidFill>
                <a:latin typeface="Courier"/>
              </a:rPr>
              <a:t>#look at number of observations per level</a:t>
            </a:r>
            <a:br/>
            <a:r>
              <a:rPr sz="1800" b="1">
                <a:solidFill>
                  <a:srgbClr val="007020"/>
                </a:solidFill>
                <a:latin typeface="Courier"/>
              </a:rPr>
              <a:t>table</a:t>
            </a:r>
            <a:r>
              <a:rPr sz="1800">
                <a:latin typeface="Courier"/>
              </a:rPr>
              <a:t>(BRFSS</a:t>
            </a:r>
            <a:r>
              <a:rPr sz="1800">
                <a:solidFill>
                  <a:srgbClr val="666666"/>
                </a:solidFill>
                <a:latin typeface="Courier"/>
              </a:rPr>
              <a:t>$</a:t>
            </a:r>
            <a:r>
              <a:rPr sz="1800">
                <a:latin typeface="Courier"/>
              </a:rPr>
              <a:t>diabetes)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9158E-B82D-1D40-88A0-A840EFE5C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Let’s combine the no’s and yes’s and exclude “Don’t know/Not sure” and “Refused”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11A7D-CD86-E440-8A5A-C775A97D40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270000" lvl="0" indent="0">
              <a:buNone/>
            </a:pPr>
            <a:r>
              <a:rPr sz="1800" i="1">
                <a:solidFill>
                  <a:srgbClr val="60A0B0"/>
                </a:solidFill>
                <a:latin typeface="Courier"/>
              </a:rPr>
              <a:t>#make a binary diabetes variable categorizing diabetes into yes and no excluding individuals with other responses.</a:t>
            </a:r>
            <a:br/>
            <a:r>
              <a:rPr sz="1800">
                <a:latin typeface="Courier"/>
              </a:rPr>
              <a:t>BRFSS</a:t>
            </a:r>
            <a:r>
              <a:rPr sz="1800">
                <a:solidFill>
                  <a:srgbClr val="666666"/>
                </a:solidFill>
                <a:latin typeface="Courier"/>
              </a:rPr>
              <a:t>$</a:t>
            </a:r>
            <a:r>
              <a:rPr sz="1800">
                <a:latin typeface="Courier"/>
              </a:rPr>
              <a:t>diabetes_binary[</a:t>
            </a:r>
            <a:br/>
            <a:r>
              <a:rPr sz="1800">
                <a:latin typeface="Courier"/>
              </a:rPr>
              <a:t>  BRFSS</a:t>
            </a:r>
            <a:r>
              <a:rPr sz="1800">
                <a:solidFill>
                  <a:srgbClr val="666666"/>
                </a:solidFill>
                <a:latin typeface="Courier"/>
              </a:rPr>
              <a:t>$</a:t>
            </a:r>
            <a:r>
              <a:rPr sz="1800">
                <a:latin typeface="Courier"/>
              </a:rPr>
              <a:t>diabetes</a:t>
            </a:r>
            <a:r>
              <a:rPr sz="1800">
                <a:solidFill>
                  <a:srgbClr val="666666"/>
                </a:solidFill>
                <a:latin typeface="Courier"/>
              </a:rPr>
              <a:t>==</a:t>
            </a:r>
            <a:r>
              <a:rPr sz="1800">
                <a:solidFill>
                  <a:srgbClr val="4070A0"/>
                </a:solidFill>
                <a:latin typeface="Courier"/>
              </a:rPr>
              <a:t>"No"</a:t>
            </a:r>
            <a:r>
              <a:rPr sz="1800">
                <a:solidFill>
                  <a:srgbClr val="666666"/>
                </a:solidFill>
                <a:latin typeface="Courier"/>
              </a:rPr>
              <a:t>|</a:t>
            </a:r>
            <a:r>
              <a:rPr sz="1800">
                <a:solidFill>
                  <a:srgbClr val="4070A0"/>
                </a:solidFill>
                <a:latin typeface="Courier"/>
              </a:rPr>
              <a:t> </a:t>
            </a:r>
            <a:r>
              <a:rPr sz="1800">
                <a:latin typeface="Courier"/>
              </a:rPr>
              <a:t>BRFSS</a:t>
            </a:r>
            <a:r>
              <a:rPr sz="1800">
                <a:solidFill>
                  <a:srgbClr val="666666"/>
                </a:solidFill>
                <a:latin typeface="Courier"/>
              </a:rPr>
              <a:t>$</a:t>
            </a:r>
            <a:r>
              <a:rPr sz="1800">
                <a:latin typeface="Courier"/>
              </a:rPr>
              <a:t>diabetes</a:t>
            </a:r>
            <a:r>
              <a:rPr sz="1800">
                <a:solidFill>
                  <a:srgbClr val="666666"/>
                </a:solidFill>
                <a:latin typeface="Courier"/>
              </a:rPr>
              <a:t>==</a:t>
            </a:r>
            <a:r>
              <a:rPr sz="1800">
                <a:solidFill>
                  <a:srgbClr val="4070A0"/>
                </a:solidFill>
                <a:latin typeface="Courier"/>
              </a:rPr>
              <a:t>"No, pre-diabetes or borderline diabetes"</a:t>
            </a:r>
            <a:r>
              <a:rPr sz="1800">
                <a:latin typeface="Courier"/>
              </a:rPr>
              <a:t>]&lt;-</a:t>
            </a:r>
            <a:r>
              <a:rPr sz="1800">
                <a:solidFill>
                  <a:srgbClr val="40A070"/>
                </a:solidFill>
                <a:latin typeface="Courier"/>
              </a:rPr>
              <a:t>0</a:t>
            </a:r>
            <a:r>
              <a:rPr sz="1800">
                <a:latin typeface="Courier"/>
              </a:rPr>
              <a:t> </a:t>
            </a:r>
            <a:r>
              <a:rPr sz="1800" i="1">
                <a:solidFill>
                  <a:srgbClr val="60A0B0"/>
                </a:solidFill>
                <a:latin typeface="Courier"/>
              </a:rPr>
              <a:t>#Assign 0 to those who responded no or no pre-diabetes/borderline to the diabetes question</a:t>
            </a:r>
            <a:br/>
            <a:br/>
            <a:r>
              <a:rPr sz="1800">
                <a:latin typeface="Courier"/>
              </a:rPr>
              <a:t>BRFSS</a:t>
            </a:r>
            <a:r>
              <a:rPr sz="1800">
                <a:solidFill>
                  <a:srgbClr val="666666"/>
                </a:solidFill>
                <a:latin typeface="Courier"/>
              </a:rPr>
              <a:t>$</a:t>
            </a:r>
            <a:r>
              <a:rPr sz="1800">
                <a:latin typeface="Courier"/>
              </a:rPr>
              <a:t>diabetes_binary[</a:t>
            </a:r>
            <a:br/>
            <a:r>
              <a:rPr sz="1800">
                <a:latin typeface="Courier"/>
              </a:rPr>
              <a:t>  BRFSS</a:t>
            </a:r>
            <a:r>
              <a:rPr sz="1800">
                <a:solidFill>
                  <a:srgbClr val="666666"/>
                </a:solidFill>
                <a:latin typeface="Courier"/>
              </a:rPr>
              <a:t>$</a:t>
            </a:r>
            <a:r>
              <a:rPr sz="1800">
                <a:latin typeface="Courier"/>
              </a:rPr>
              <a:t>diabetes</a:t>
            </a:r>
            <a:r>
              <a:rPr sz="1800">
                <a:solidFill>
                  <a:srgbClr val="666666"/>
                </a:solidFill>
                <a:latin typeface="Courier"/>
              </a:rPr>
              <a:t>==</a:t>
            </a:r>
            <a:r>
              <a:rPr sz="1800">
                <a:solidFill>
                  <a:srgbClr val="4070A0"/>
                </a:solidFill>
                <a:latin typeface="Courier"/>
              </a:rPr>
              <a:t>"Yes"</a:t>
            </a:r>
            <a:r>
              <a:rPr sz="1800">
                <a:solidFill>
                  <a:srgbClr val="666666"/>
                </a:solidFill>
                <a:latin typeface="Courier"/>
              </a:rPr>
              <a:t>|</a:t>
            </a:r>
            <a:r>
              <a:rPr sz="1800">
                <a:latin typeface="Courier"/>
              </a:rPr>
              <a:t>BRFSS</a:t>
            </a:r>
            <a:r>
              <a:rPr sz="1800">
                <a:solidFill>
                  <a:srgbClr val="666666"/>
                </a:solidFill>
                <a:latin typeface="Courier"/>
              </a:rPr>
              <a:t>$</a:t>
            </a:r>
            <a:r>
              <a:rPr sz="1800">
                <a:latin typeface="Courier"/>
              </a:rPr>
              <a:t>diabetes</a:t>
            </a:r>
            <a:r>
              <a:rPr sz="1800">
                <a:solidFill>
                  <a:srgbClr val="666666"/>
                </a:solidFill>
                <a:latin typeface="Courier"/>
              </a:rPr>
              <a:t>==</a:t>
            </a:r>
            <a:r>
              <a:rPr sz="1800">
                <a:solidFill>
                  <a:srgbClr val="4070A0"/>
                </a:solidFill>
                <a:latin typeface="Courier"/>
              </a:rPr>
              <a:t>"Yes, but female told only during pregnancy"</a:t>
            </a:r>
            <a:r>
              <a:rPr sz="1800">
                <a:latin typeface="Courier"/>
              </a:rPr>
              <a:t>]&lt;-</a:t>
            </a:r>
            <a:r>
              <a:rPr sz="1800">
                <a:solidFill>
                  <a:srgbClr val="40A070"/>
                </a:solidFill>
                <a:latin typeface="Courier"/>
              </a:rPr>
              <a:t>1</a:t>
            </a:r>
            <a:r>
              <a:rPr sz="1800">
                <a:latin typeface="Courier"/>
              </a:rPr>
              <a:t> </a:t>
            </a:r>
            <a:r>
              <a:rPr sz="1800" i="1">
                <a:solidFill>
                  <a:srgbClr val="60A0B0"/>
                </a:solidFill>
                <a:latin typeface="Courier"/>
              </a:rPr>
              <a:t>#Assign 1 to those who responded yes or yes during pregnancy to the diabetes question</a:t>
            </a:r>
            <a:br/>
            <a:br/>
            <a:r>
              <a:rPr sz="1800">
                <a:latin typeface="Courier"/>
              </a:rPr>
              <a:t>BRFSS</a:t>
            </a:r>
            <a:r>
              <a:rPr sz="1800">
                <a:solidFill>
                  <a:srgbClr val="666666"/>
                </a:solidFill>
                <a:latin typeface="Courier"/>
              </a:rPr>
              <a:t>$</a:t>
            </a:r>
            <a:r>
              <a:rPr sz="1800">
                <a:latin typeface="Courier"/>
              </a:rPr>
              <a:t>diabetes_binary&lt;-</a:t>
            </a:r>
            <a:r>
              <a:rPr sz="1800" b="1">
                <a:solidFill>
                  <a:srgbClr val="007020"/>
                </a:solidFill>
                <a:latin typeface="Courier"/>
              </a:rPr>
              <a:t>factor</a:t>
            </a:r>
            <a:r>
              <a:rPr sz="1800">
                <a:latin typeface="Courier"/>
              </a:rPr>
              <a:t>(BRFSS</a:t>
            </a:r>
            <a:r>
              <a:rPr sz="1800">
                <a:solidFill>
                  <a:srgbClr val="666666"/>
                </a:solidFill>
                <a:latin typeface="Courier"/>
              </a:rPr>
              <a:t>$</a:t>
            </a:r>
            <a:r>
              <a:rPr sz="1800">
                <a:latin typeface="Courier"/>
              </a:rPr>
              <a:t>diabetes_binary, </a:t>
            </a:r>
            <a:r>
              <a:rPr sz="1800">
                <a:solidFill>
                  <a:srgbClr val="902000"/>
                </a:solidFill>
                <a:latin typeface="Courier"/>
              </a:rPr>
              <a:t>levels=</a:t>
            </a:r>
            <a:r>
              <a:rPr sz="1800" b="1">
                <a:solidFill>
                  <a:srgbClr val="007020"/>
                </a:solidFill>
                <a:latin typeface="Courier"/>
              </a:rPr>
              <a:t>c</a:t>
            </a:r>
            <a:r>
              <a:rPr sz="1800">
                <a:latin typeface="Courier"/>
              </a:rPr>
              <a:t>(</a:t>
            </a:r>
            <a:r>
              <a:rPr sz="1800">
                <a:solidFill>
                  <a:srgbClr val="40A070"/>
                </a:solidFill>
                <a:latin typeface="Courier"/>
              </a:rPr>
              <a:t>0</a:t>
            </a:r>
            <a:r>
              <a:rPr sz="1800">
                <a:latin typeface="Courier"/>
              </a:rPr>
              <a:t>,</a:t>
            </a:r>
            <a:r>
              <a:rPr sz="1800">
                <a:solidFill>
                  <a:srgbClr val="40A070"/>
                </a:solidFill>
                <a:latin typeface="Courier"/>
              </a:rPr>
              <a:t>1</a:t>
            </a:r>
            <a:r>
              <a:rPr sz="1800">
                <a:latin typeface="Courier"/>
              </a:rPr>
              <a:t>), </a:t>
            </a:r>
            <a:r>
              <a:rPr sz="1800">
                <a:solidFill>
                  <a:srgbClr val="902000"/>
                </a:solidFill>
                <a:latin typeface="Courier"/>
              </a:rPr>
              <a:t>labels=</a:t>
            </a:r>
            <a:r>
              <a:rPr sz="1800" b="1">
                <a:solidFill>
                  <a:srgbClr val="007020"/>
                </a:solidFill>
                <a:latin typeface="Courier"/>
              </a:rPr>
              <a:t>c</a:t>
            </a:r>
            <a:r>
              <a:rPr sz="1800">
                <a:latin typeface="Courier"/>
              </a:rPr>
              <a:t>(</a:t>
            </a:r>
            <a:r>
              <a:rPr sz="1800">
                <a:solidFill>
                  <a:srgbClr val="4070A0"/>
                </a:solidFill>
                <a:latin typeface="Courier"/>
              </a:rPr>
              <a:t>"No Diabetes"</a:t>
            </a:r>
            <a:r>
              <a:rPr sz="1800">
                <a:latin typeface="Courier"/>
              </a:rPr>
              <a:t>, </a:t>
            </a:r>
            <a:r>
              <a:rPr sz="1800">
                <a:solidFill>
                  <a:srgbClr val="4070A0"/>
                </a:solidFill>
                <a:latin typeface="Courier"/>
              </a:rPr>
              <a:t>"Diabetes"</a:t>
            </a:r>
            <a:r>
              <a:rPr sz="1800">
                <a:latin typeface="Courier"/>
              </a:rPr>
              <a:t>))</a:t>
            </a:r>
            <a:br/>
            <a:br/>
            <a:r>
              <a:rPr sz="1800" i="1">
                <a:solidFill>
                  <a:srgbClr val="60A0B0"/>
                </a:solidFill>
                <a:latin typeface="Courier"/>
              </a:rPr>
              <a:t>#check to make sure re-classification worked</a:t>
            </a:r>
            <a:br/>
            <a:r>
              <a:rPr sz="1800" b="1">
                <a:solidFill>
                  <a:srgbClr val="007020"/>
                </a:solidFill>
                <a:latin typeface="Courier"/>
              </a:rPr>
              <a:t>table</a:t>
            </a:r>
            <a:r>
              <a:rPr sz="1800">
                <a:latin typeface="Courier"/>
              </a:rPr>
              <a:t>(BRFSS</a:t>
            </a:r>
            <a:r>
              <a:rPr sz="1800">
                <a:solidFill>
                  <a:srgbClr val="666666"/>
                </a:solidFill>
                <a:latin typeface="Courier"/>
              </a:rPr>
              <a:t>$</a:t>
            </a:r>
            <a:r>
              <a:rPr sz="1800">
                <a:latin typeface="Courier"/>
              </a:rPr>
              <a:t>diabetes_binary, BRFSS</a:t>
            </a:r>
            <a:r>
              <a:rPr sz="1800">
                <a:solidFill>
                  <a:srgbClr val="666666"/>
                </a:solidFill>
                <a:latin typeface="Courier"/>
              </a:rPr>
              <a:t>$</a:t>
            </a:r>
            <a:r>
              <a:rPr sz="1800">
                <a:latin typeface="Courier"/>
              </a:rPr>
              <a:t>diabetes)</a:t>
            </a:r>
            <a:br/>
            <a:r>
              <a:rPr sz="1800" b="1">
                <a:solidFill>
                  <a:srgbClr val="007020"/>
                </a:solidFill>
                <a:latin typeface="Courier"/>
              </a:rPr>
              <a:t>table</a:t>
            </a:r>
            <a:r>
              <a:rPr sz="1800">
                <a:latin typeface="Courier"/>
              </a:rPr>
              <a:t>(BRFSS</a:t>
            </a:r>
            <a:r>
              <a:rPr sz="1800">
                <a:solidFill>
                  <a:srgbClr val="666666"/>
                </a:solidFill>
                <a:latin typeface="Courier"/>
              </a:rPr>
              <a:t>$</a:t>
            </a:r>
            <a:r>
              <a:rPr sz="1800">
                <a:latin typeface="Courier"/>
              </a:rPr>
              <a:t>diabetes_binary)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9158E-B82D-1D40-88A0-A840EFE5C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Let’s also recode BMI into 4 categories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11A7D-CD86-E440-8A5A-C775A97D40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270000" lvl="0" indent="0">
              <a:buNone/>
            </a:pPr>
            <a:r>
              <a:rPr sz="1800" i="1">
                <a:solidFill>
                  <a:srgbClr val="60A0B0"/>
                </a:solidFill>
                <a:latin typeface="Courier"/>
              </a:rPr>
              <a:t>#recoding BMI to 4 categories</a:t>
            </a:r>
            <a:br/>
            <a:r>
              <a:rPr sz="1800">
                <a:latin typeface="Courier"/>
              </a:rPr>
              <a:t>BRFSS</a:t>
            </a:r>
            <a:r>
              <a:rPr sz="1800">
                <a:solidFill>
                  <a:srgbClr val="666666"/>
                </a:solidFill>
                <a:latin typeface="Courier"/>
              </a:rPr>
              <a:t>$</a:t>
            </a:r>
            <a:r>
              <a:rPr sz="1800">
                <a:latin typeface="Courier"/>
              </a:rPr>
              <a:t>bmi_cat[(BRFSS</a:t>
            </a:r>
            <a:r>
              <a:rPr sz="1800">
                <a:solidFill>
                  <a:srgbClr val="666666"/>
                </a:solidFill>
                <a:latin typeface="Courier"/>
              </a:rPr>
              <a:t>$</a:t>
            </a:r>
            <a:r>
              <a:rPr sz="1800">
                <a:latin typeface="Courier"/>
              </a:rPr>
              <a:t>bmi</a:t>
            </a:r>
            <a:r>
              <a:rPr sz="1800">
                <a:solidFill>
                  <a:srgbClr val="666666"/>
                </a:solidFill>
                <a:latin typeface="Courier"/>
              </a:rPr>
              <a:t>&gt;</a:t>
            </a:r>
            <a:r>
              <a:rPr sz="1800">
                <a:solidFill>
                  <a:srgbClr val="40A070"/>
                </a:solidFill>
                <a:latin typeface="Courier"/>
              </a:rPr>
              <a:t>0</a:t>
            </a:r>
            <a:r>
              <a:rPr sz="1800">
                <a:latin typeface="Courier"/>
              </a:rPr>
              <a:t> </a:t>
            </a:r>
            <a:r>
              <a:rPr sz="1800">
                <a:solidFill>
                  <a:srgbClr val="666666"/>
                </a:solidFill>
                <a:latin typeface="Courier"/>
              </a:rPr>
              <a:t>&amp;</a:t>
            </a:r>
            <a:r>
              <a:rPr sz="1800">
                <a:solidFill>
                  <a:srgbClr val="4070A0"/>
                </a:solidFill>
                <a:latin typeface="Courier"/>
              </a:rPr>
              <a:t> </a:t>
            </a:r>
            <a:r>
              <a:rPr sz="1800">
                <a:latin typeface="Courier"/>
              </a:rPr>
              <a:t>BRFSS</a:t>
            </a:r>
            <a:r>
              <a:rPr sz="1800">
                <a:solidFill>
                  <a:srgbClr val="666666"/>
                </a:solidFill>
                <a:latin typeface="Courier"/>
              </a:rPr>
              <a:t>$</a:t>
            </a:r>
            <a:r>
              <a:rPr sz="1800">
                <a:latin typeface="Courier"/>
              </a:rPr>
              <a:t>bmi</a:t>
            </a:r>
            <a:r>
              <a:rPr sz="1800">
                <a:solidFill>
                  <a:srgbClr val="666666"/>
                </a:solidFill>
                <a:latin typeface="Courier"/>
              </a:rPr>
              <a:t>&lt;</a:t>
            </a:r>
            <a:r>
              <a:rPr sz="1800">
                <a:solidFill>
                  <a:srgbClr val="40A070"/>
                </a:solidFill>
                <a:latin typeface="Courier"/>
              </a:rPr>
              <a:t>18.5</a:t>
            </a:r>
            <a:r>
              <a:rPr sz="1800">
                <a:latin typeface="Courier"/>
              </a:rPr>
              <a:t>)]&lt;-</a:t>
            </a:r>
            <a:r>
              <a:rPr sz="1800">
                <a:solidFill>
                  <a:srgbClr val="40A070"/>
                </a:solidFill>
                <a:latin typeface="Courier"/>
              </a:rPr>
              <a:t>0</a:t>
            </a:r>
            <a:br/>
            <a:r>
              <a:rPr sz="1800">
                <a:latin typeface="Courier"/>
              </a:rPr>
              <a:t>BRFSS</a:t>
            </a:r>
            <a:r>
              <a:rPr sz="1800">
                <a:solidFill>
                  <a:srgbClr val="666666"/>
                </a:solidFill>
                <a:latin typeface="Courier"/>
              </a:rPr>
              <a:t>$</a:t>
            </a:r>
            <a:r>
              <a:rPr sz="1800">
                <a:latin typeface="Courier"/>
              </a:rPr>
              <a:t>bmi_cat[(BRFSS</a:t>
            </a:r>
            <a:r>
              <a:rPr sz="1800">
                <a:solidFill>
                  <a:srgbClr val="666666"/>
                </a:solidFill>
                <a:latin typeface="Courier"/>
              </a:rPr>
              <a:t>$</a:t>
            </a:r>
            <a:r>
              <a:rPr sz="1800">
                <a:latin typeface="Courier"/>
              </a:rPr>
              <a:t>bmi</a:t>
            </a:r>
            <a:r>
              <a:rPr sz="1800">
                <a:solidFill>
                  <a:srgbClr val="666666"/>
                </a:solidFill>
                <a:latin typeface="Courier"/>
              </a:rPr>
              <a:t>&gt;=</a:t>
            </a:r>
            <a:r>
              <a:rPr sz="1800">
                <a:solidFill>
                  <a:srgbClr val="40A070"/>
                </a:solidFill>
                <a:latin typeface="Courier"/>
              </a:rPr>
              <a:t>18.5</a:t>
            </a:r>
            <a:r>
              <a:rPr sz="1800">
                <a:latin typeface="Courier"/>
              </a:rPr>
              <a:t> </a:t>
            </a:r>
            <a:r>
              <a:rPr sz="1800">
                <a:solidFill>
                  <a:srgbClr val="666666"/>
                </a:solidFill>
                <a:latin typeface="Courier"/>
              </a:rPr>
              <a:t>&amp;</a:t>
            </a:r>
            <a:r>
              <a:rPr sz="1800">
                <a:solidFill>
                  <a:srgbClr val="4070A0"/>
                </a:solidFill>
                <a:latin typeface="Courier"/>
              </a:rPr>
              <a:t> </a:t>
            </a:r>
            <a:r>
              <a:rPr sz="1800">
                <a:latin typeface="Courier"/>
              </a:rPr>
              <a:t>BRFSS</a:t>
            </a:r>
            <a:r>
              <a:rPr sz="1800">
                <a:solidFill>
                  <a:srgbClr val="666666"/>
                </a:solidFill>
                <a:latin typeface="Courier"/>
              </a:rPr>
              <a:t>$</a:t>
            </a:r>
            <a:r>
              <a:rPr sz="1800">
                <a:latin typeface="Courier"/>
              </a:rPr>
              <a:t>bmi</a:t>
            </a:r>
            <a:r>
              <a:rPr sz="1800">
                <a:solidFill>
                  <a:srgbClr val="666666"/>
                </a:solidFill>
                <a:latin typeface="Courier"/>
              </a:rPr>
              <a:t>&lt;</a:t>
            </a:r>
            <a:r>
              <a:rPr sz="1800">
                <a:solidFill>
                  <a:srgbClr val="40A070"/>
                </a:solidFill>
                <a:latin typeface="Courier"/>
              </a:rPr>
              <a:t>25</a:t>
            </a:r>
            <a:r>
              <a:rPr sz="1800">
                <a:latin typeface="Courier"/>
              </a:rPr>
              <a:t>)]&lt;-</a:t>
            </a:r>
            <a:r>
              <a:rPr sz="1800">
                <a:solidFill>
                  <a:srgbClr val="40A070"/>
                </a:solidFill>
                <a:latin typeface="Courier"/>
              </a:rPr>
              <a:t>1</a:t>
            </a:r>
            <a:br/>
            <a:r>
              <a:rPr sz="1800">
                <a:latin typeface="Courier"/>
              </a:rPr>
              <a:t>BRFSS</a:t>
            </a:r>
            <a:r>
              <a:rPr sz="1800">
                <a:solidFill>
                  <a:srgbClr val="666666"/>
                </a:solidFill>
                <a:latin typeface="Courier"/>
              </a:rPr>
              <a:t>$</a:t>
            </a:r>
            <a:r>
              <a:rPr sz="1800">
                <a:latin typeface="Courier"/>
              </a:rPr>
              <a:t>bmi_cat[(BRFSS</a:t>
            </a:r>
            <a:r>
              <a:rPr sz="1800">
                <a:solidFill>
                  <a:srgbClr val="666666"/>
                </a:solidFill>
                <a:latin typeface="Courier"/>
              </a:rPr>
              <a:t>$</a:t>
            </a:r>
            <a:r>
              <a:rPr sz="1800">
                <a:latin typeface="Courier"/>
              </a:rPr>
              <a:t>bmi</a:t>
            </a:r>
            <a:r>
              <a:rPr sz="1800">
                <a:solidFill>
                  <a:srgbClr val="666666"/>
                </a:solidFill>
                <a:latin typeface="Courier"/>
              </a:rPr>
              <a:t>&gt;=</a:t>
            </a:r>
            <a:r>
              <a:rPr sz="1800">
                <a:solidFill>
                  <a:srgbClr val="40A070"/>
                </a:solidFill>
                <a:latin typeface="Courier"/>
              </a:rPr>
              <a:t>25</a:t>
            </a:r>
            <a:r>
              <a:rPr sz="1800">
                <a:latin typeface="Courier"/>
              </a:rPr>
              <a:t> </a:t>
            </a:r>
            <a:r>
              <a:rPr sz="1800">
                <a:solidFill>
                  <a:srgbClr val="666666"/>
                </a:solidFill>
                <a:latin typeface="Courier"/>
              </a:rPr>
              <a:t>&amp;</a:t>
            </a:r>
            <a:r>
              <a:rPr sz="1800">
                <a:solidFill>
                  <a:srgbClr val="4070A0"/>
                </a:solidFill>
                <a:latin typeface="Courier"/>
              </a:rPr>
              <a:t> </a:t>
            </a:r>
            <a:r>
              <a:rPr sz="1800">
                <a:latin typeface="Courier"/>
              </a:rPr>
              <a:t>BRFSS</a:t>
            </a:r>
            <a:r>
              <a:rPr sz="1800">
                <a:solidFill>
                  <a:srgbClr val="666666"/>
                </a:solidFill>
                <a:latin typeface="Courier"/>
              </a:rPr>
              <a:t>$</a:t>
            </a:r>
            <a:r>
              <a:rPr sz="1800">
                <a:latin typeface="Courier"/>
              </a:rPr>
              <a:t>bmi</a:t>
            </a:r>
            <a:r>
              <a:rPr sz="1800">
                <a:solidFill>
                  <a:srgbClr val="666666"/>
                </a:solidFill>
                <a:latin typeface="Courier"/>
              </a:rPr>
              <a:t>&lt;</a:t>
            </a:r>
            <a:r>
              <a:rPr sz="1800">
                <a:solidFill>
                  <a:srgbClr val="40A070"/>
                </a:solidFill>
                <a:latin typeface="Courier"/>
              </a:rPr>
              <a:t>30</a:t>
            </a:r>
            <a:r>
              <a:rPr sz="1800">
                <a:latin typeface="Courier"/>
              </a:rPr>
              <a:t>)]&lt;-</a:t>
            </a:r>
            <a:r>
              <a:rPr sz="1800">
                <a:solidFill>
                  <a:srgbClr val="40A070"/>
                </a:solidFill>
                <a:latin typeface="Courier"/>
              </a:rPr>
              <a:t>2</a:t>
            </a:r>
            <a:br/>
            <a:r>
              <a:rPr sz="1800">
                <a:latin typeface="Courier"/>
              </a:rPr>
              <a:t>BRFSS</a:t>
            </a:r>
            <a:r>
              <a:rPr sz="1800">
                <a:solidFill>
                  <a:srgbClr val="666666"/>
                </a:solidFill>
                <a:latin typeface="Courier"/>
              </a:rPr>
              <a:t>$</a:t>
            </a:r>
            <a:r>
              <a:rPr sz="1800">
                <a:latin typeface="Courier"/>
              </a:rPr>
              <a:t>bmi_cat[(BRFSS</a:t>
            </a:r>
            <a:r>
              <a:rPr sz="1800">
                <a:solidFill>
                  <a:srgbClr val="666666"/>
                </a:solidFill>
                <a:latin typeface="Courier"/>
              </a:rPr>
              <a:t>$</a:t>
            </a:r>
            <a:r>
              <a:rPr sz="1800">
                <a:latin typeface="Courier"/>
              </a:rPr>
              <a:t>bmi</a:t>
            </a:r>
            <a:r>
              <a:rPr sz="1800">
                <a:solidFill>
                  <a:srgbClr val="666666"/>
                </a:solidFill>
                <a:latin typeface="Courier"/>
              </a:rPr>
              <a:t>&gt;=</a:t>
            </a:r>
            <a:r>
              <a:rPr sz="1800">
                <a:solidFill>
                  <a:srgbClr val="40A070"/>
                </a:solidFill>
                <a:latin typeface="Courier"/>
              </a:rPr>
              <a:t>30</a:t>
            </a:r>
            <a:r>
              <a:rPr sz="1800">
                <a:latin typeface="Courier"/>
              </a:rPr>
              <a:t>)]&lt;-</a:t>
            </a:r>
            <a:r>
              <a:rPr sz="1800">
                <a:solidFill>
                  <a:srgbClr val="40A070"/>
                </a:solidFill>
                <a:latin typeface="Courier"/>
              </a:rPr>
              <a:t>3</a:t>
            </a:r>
            <a:br/>
            <a:br/>
            <a:r>
              <a:rPr sz="1800" i="1">
                <a:solidFill>
                  <a:srgbClr val="60A0B0"/>
                </a:solidFill>
                <a:latin typeface="Courier"/>
              </a:rPr>
              <a:t>#make BMI a factor variable</a:t>
            </a:r>
            <a:br/>
            <a:r>
              <a:rPr sz="1800">
                <a:latin typeface="Courier"/>
              </a:rPr>
              <a:t>BRFSS</a:t>
            </a:r>
            <a:r>
              <a:rPr sz="1800">
                <a:solidFill>
                  <a:srgbClr val="666666"/>
                </a:solidFill>
                <a:latin typeface="Courier"/>
              </a:rPr>
              <a:t>$</a:t>
            </a:r>
            <a:r>
              <a:rPr sz="1800">
                <a:latin typeface="Courier"/>
              </a:rPr>
              <a:t>bmi_cat&lt;-</a:t>
            </a:r>
            <a:r>
              <a:rPr sz="1800" b="1">
                <a:solidFill>
                  <a:srgbClr val="007020"/>
                </a:solidFill>
                <a:latin typeface="Courier"/>
              </a:rPr>
              <a:t>factor</a:t>
            </a:r>
            <a:r>
              <a:rPr sz="1800">
                <a:latin typeface="Courier"/>
              </a:rPr>
              <a:t>(BRFSS</a:t>
            </a:r>
            <a:r>
              <a:rPr sz="1800">
                <a:solidFill>
                  <a:srgbClr val="666666"/>
                </a:solidFill>
                <a:latin typeface="Courier"/>
              </a:rPr>
              <a:t>$</a:t>
            </a:r>
            <a:r>
              <a:rPr sz="1800">
                <a:latin typeface="Courier"/>
              </a:rPr>
              <a:t>bmi_cat, </a:t>
            </a:r>
            <a:r>
              <a:rPr sz="1800">
                <a:solidFill>
                  <a:srgbClr val="902000"/>
                </a:solidFill>
                <a:latin typeface="Courier"/>
              </a:rPr>
              <a:t>levels=</a:t>
            </a:r>
            <a:r>
              <a:rPr sz="1800" b="1">
                <a:solidFill>
                  <a:srgbClr val="007020"/>
                </a:solidFill>
                <a:latin typeface="Courier"/>
              </a:rPr>
              <a:t>c</a:t>
            </a:r>
            <a:r>
              <a:rPr sz="1800">
                <a:latin typeface="Courier"/>
              </a:rPr>
              <a:t>(</a:t>
            </a:r>
            <a:r>
              <a:rPr sz="1800">
                <a:solidFill>
                  <a:srgbClr val="40A070"/>
                </a:solidFill>
                <a:latin typeface="Courier"/>
              </a:rPr>
              <a:t>0</a:t>
            </a:r>
            <a:r>
              <a:rPr sz="1800">
                <a:solidFill>
                  <a:srgbClr val="666666"/>
                </a:solidFill>
                <a:latin typeface="Courier"/>
              </a:rPr>
              <a:t>:</a:t>
            </a:r>
            <a:r>
              <a:rPr sz="1800">
                <a:solidFill>
                  <a:srgbClr val="40A070"/>
                </a:solidFill>
                <a:latin typeface="Courier"/>
              </a:rPr>
              <a:t>3</a:t>
            </a:r>
            <a:r>
              <a:rPr sz="1800">
                <a:latin typeface="Courier"/>
              </a:rPr>
              <a:t>), </a:t>
            </a:r>
            <a:r>
              <a:rPr sz="1800">
                <a:solidFill>
                  <a:srgbClr val="902000"/>
                </a:solidFill>
                <a:latin typeface="Courier"/>
              </a:rPr>
              <a:t>labels=</a:t>
            </a:r>
            <a:r>
              <a:rPr sz="1800" b="1">
                <a:solidFill>
                  <a:srgbClr val="007020"/>
                </a:solidFill>
                <a:latin typeface="Courier"/>
              </a:rPr>
              <a:t>c</a:t>
            </a:r>
            <a:r>
              <a:rPr sz="1800">
                <a:latin typeface="Courier"/>
              </a:rPr>
              <a:t>(</a:t>
            </a:r>
            <a:r>
              <a:rPr sz="1800">
                <a:solidFill>
                  <a:srgbClr val="4070A0"/>
                </a:solidFill>
                <a:latin typeface="Courier"/>
              </a:rPr>
              <a:t>"0 to &lt;18.5 kg/m2"</a:t>
            </a:r>
            <a:r>
              <a:rPr sz="1800">
                <a:latin typeface="Courier"/>
              </a:rPr>
              <a:t>, </a:t>
            </a:r>
            <a:r>
              <a:rPr sz="1800">
                <a:solidFill>
                  <a:srgbClr val="4070A0"/>
                </a:solidFill>
                <a:latin typeface="Courier"/>
              </a:rPr>
              <a:t>"18.5 to &lt;25 kg/m2"</a:t>
            </a:r>
            <a:r>
              <a:rPr sz="1800">
                <a:latin typeface="Courier"/>
              </a:rPr>
              <a:t>, </a:t>
            </a:r>
            <a:r>
              <a:rPr sz="1800">
                <a:solidFill>
                  <a:srgbClr val="4070A0"/>
                </a:solidFill>
                <a:latin typeface="Courier"/>
              </a:rPr>
              <a:t>"25 to &lt;30 kg/m2"</a:t>
            </a:r>
            <a:r>
              <a:rPr sz="1800">
                <a:latin typeface="Courier"/>
              </a:rPr>
              <a:t>, </a:t>
            </a:r>
            <a:r>
              <a:rPr sz="1800">
                <a:solidFill>
                  <a:srgbClr val="4070A0"/>
                </a:solidFill>
                <a:latin typeface="Courier"/>
              </a:rPr>
              <a:t>"&gt;=30 kg/m2"</a:t>
            </a:r>
            <a:r>
              <a:rPr sz="1800">
                <a:latin typeface="Courier"/>
              </a:rPr>
              <a:t>))</a:t>
            </a:r>
            <a:br/>
            <a:br/>
            <a:r>
              <a:rPr sz="1800" i="1">
                <a:solidFill>
                  <a:srgbClr val="60A0B0"/>
                </a:solidFill>
                <a:latin typeface="Courier"/>
              </a:rPr>
              <a:t>#checking to make sure recode worked</a:t>
            </a:r>
            <a:br/>
            <a:r>
              <a:rPr sz="1800" b="1">
                <a:solidFill>
                  <a:srgbClr val="007020"/>
                </a:solidFill>
                <a:latin typeface="Courier"/>
              </a:rPr>
              <a:t>summary</a:t>
            </a:r>
            <a:r>
              <a:rPr sz="1800">
                <a:latin typeface="Courier"/>
              </a:rPr>
              <a:t>(BRFSS</a:t>
            </a:r>
            <a:r>
              <a:rPr sz="1800">
                <a:solidFill>
                  <a:srgbClr val="666666"/>
                </a:solidFill>
                <a:latin typeface="Courier"/>
              </a:rPr>
              <a:t>$</a:t>
            </a:r>
            <a:r>
              <a:rPr sz="1800">
                <a:latin typeface="Courier"/>
              </a:rPr>
              <a:t>bmi_cat)</a:t>
            </a:r>
            <a:br/>
            <a:r>
              <a:rPr sz="1800" b="1">
                <a:solidFill>
                  <a:srgbClr val="007020"/>
                </a:solidFill>
                <a:latin typeface="Courier"/>
              </a:rPr>
              <a:t>by</a:t>
            </a:r>
            <a:r>
              <a:rPr sz="1800">
                <a:latin typeface="Courier"/>
              </a:rPr>
              <a:t>(BRFSS</a:t>
            </a:r>
            <a:r>
              <a:rPr sz="1800">
                <a:solidFill>
                  <a:srgbClr val="666666"/>
                </a:solidFill>
                <a:latin typeface="Courier"/>
              </a:rPr>
              <a:t>$</a:t>
            </a:r>
            <a:r>
              <a:rPr sz="1800">
                <a:latin typeface="Courier"/>
              </a:rPr>
              <a:t>bmi, BRFSS</a:t>
            </a:r>
            <a:r>
              <a:rPr sz="1800">
                <a:solidFill>
                  <a:srgbClr val="666666"/>
                </a:solidFill>
                <a:latin typeface="Courier"/>
              </a:rPr>
              <a:t>$</a:t>
            </a:r>
            <a:r>
              <a:rPr sz="1800">
                <a:latin typeface="Courier"/>
              </a:rPr>
              <a:t>bmi_cat, summary)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9158E-B82D-1D40-88A0-A840EFE5C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Run a logistic model with diabetes_binary as the dependent variable and bmi_cat as the independent variable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11A7D-CD86-E440-8A5A-C775A97D40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270000" lvl="0" indent="0">
              <a:buNone/>
            </a:pPr>
            <a:r>
              <a:rPr sz="1800" i="1">
                <a:solidFill>
                  <a:srgbClr val="60A0B0"/>
                </a:solidFill>
                <a:latin typeface="Courier"/>
              </a:rPr>
              <a:t>#bmi_cat logistic model</a:t>
            </a:r>
            <a:br/>
            <a:r>
              <a:rPr sz="1800">
                <a:latin typeface="Courier"/>
              </a:rPr>
              <a:t>bmi_catLogit &lt;-</a:t>
            </a:r>
            <a:r>
              <a:rPr sz="1800">
                <a:solidFill>
                  <a:srgbClr val="4070A0"/>
                </a:solidFill>
                <a:latin typeface="Courier"/>
              </a:rPr>
              <a:t> </a:t>
            </a:r>
            <a:r>
              <a:rPr sz="1800" b="1">
                <a:solidFill>
                  <a:srgbClr val="007020"/>
                </a:solidFill>
                <a:latin typeface="Courier"/>
              </a:rPr>
              <a:t>glm</a:t>
            </a:r>
            <a:r>
              <a:rPr sz="1800">
                <a:latin typeface="Courier"/>
              </a:rPr>
              <a:t>(diabetes_binary </a:t>
            </a:r>
            <a:r>
              <a:rPr sz="1800">
                <a:solidFill>
                  <a:srgbClr val="666666"/>
                </a:solidFill>
                <a:latin typeface="Courier"/>
              </a:rPr>
              <a:t>~</a:t>
            </a:r>
            <a:r>
              <a:rPr sz="1800">
                <a:latin typeface="Courier"/>
              </a:rPr>
              <a:t>bmi_cat, </a:t>
            </a:r>
            <a:r>
              <a:rPr sz="1800">
                <a:solidFill>
                  <a:srgbClr val="902000"/>
                </a:solidFill>
                <a:latin typeface="Courier"/>
              </a:rPr>
              <a:t>data=</a:t>
            </a:r>
            <a:r>
              <a:rPr sz="1800">
                <a:latin typeface="Courier"/>
              </a:rPr>
              <a:t>BRFSS, </a:t>
            </a:r>
            <a:r>
              <a:rPr sz="1800">
                <a:solidFill>
                  <a:srgbClr val="902000"/>
                </a:solidFill>
                <a:latin typeface="Courier"/>
              </a:rPr>
              <a:t>family=</a:t>
            </a:r>
            <a:r>
              <a:rPr sz="1800">
                <a:solidFill>
                  <a:srgbClr val="4070A0"/>
                </a:solidFill>
                <a:latin typeface="Courier"/>
              </a:rPr>
              <a:t>"binomial"</a:t>
            </a:r>
            <a:r>
              <a:rPr sz="1800">
                <a:latin typeface="Courier"/>
              </a:rPr>
              <a:t>)</a:t>
            </a:r>
            <a:br/>
            <a:r>
              <a:rPr sz="1800">
                <a:latin typeface="Courier"/>
              </a:rPr>
              <a:t>  </a:t>
            </a:r>
            <a:r>
              <a:rPr sz="1800" b="1">
                <a:solidFill>
                  <a:srgbClr val="007020"/>
                </a:solidFill>
                <a:latin typeface="Courier"/>
              </a:rPr>
              <a:t>summary</a:t>
            </a:r>
            <a:r>
              <a:rPr sz="1800">
                <a:latin typeface="Courier"/>
              </a:rPr>
              <a:t>(bmi_catLogit)</a:t>
            </a:r>
            <a:br/>
            <a:br/>
            <a:r>
              <a:rPr sz="1800" i="1">
                <a:solidFill>
                  <a:srgbClr val="60A0B0"/>
                </a:solidFill>
                <a:latin typeface="Courier"/>
              </a:rPr>
              <a:t>#calculate and print ORs and 95% CIs  </a:t>
            </a:r>
            <a:br/>
            <a:r>
              <a:rPr sz="1800">
                <a:latin typeface="Courier"/>
              </a:rPr>
              <a:t>  ORbmi_cat&lt;-</a:t>
            </a:r>
            <a:r>
              <a:rPr sz="1800" b="1">
                <a:solidFill>
                  <a:srgbClr val="007020"/>
                </a:solidFill>
                <a:latin typeface="Courier"/>
              </a:rPr>
              <a:t>exp</a:t>
            </a:r>
            <a:r>
              <a:rPr sz="1800">
                <a:latin typeface="Courier"/>
              </a:rPr>
              <a:t>(</a:t>
            </a:r>
            <a:r>
              <a:rPr sz="1800" b="1">
                <a:solidFill>
                  <a:srgbClr val="007020"/>
                </a:solidFill>
                <a:latin typeface="Courier"/>
              </a:rPr>
              <a:t>cbind</a:t>
            </a:r>
            <a:r>
              <a:rPr sz="1800">
                <a:latin typeface="Courier"/>
              </a:rPr>
              <a:t>(</a:t>
            </a:r>
            <a:r>
              <a:rPr sz="1800">
                <a:solidFill>
                  <a:srgbClr val="902000"/>
                </a:solidFill>
                <a:latin typeface="Courier"/>
              </a:rPr>
              <a:t>OR =</a:t>
            </a:r>
            <a:r>
              <a:rPr sz="1800">
                <a:latin typeface="Courier"/>
              </a:rPr>
              <a:t> </a:t>
            </a:r>
            <a:r>
              <a:rPr sz="1800" b="1">
                <a:solidFill>
                  <a:srgbClr val="007020"/>
                </a:solidFill>
                <a:latin typeface="Courier"/>
              </a:rPr>
              <a:t>coef</a:t>
            </a:r>
            <a:r>
              <a:rPr sz="1800">
                <a:latin typeface="Courier"/>
              </a:rPr>
              <a:t>(bmi_catLogit), </a:t>
            </a:r>
            <a:r>
              <a:rPr sz="1800" b="1">
                <a:solidFill>
                  <a:srgbClr val="007020"/>
                </a:solidFill>
                <a:latin typeface="Courier"/>
              </a:rPr>
              <a:t>confint</a:t>
            </a:r>
            <a:r>
              <a:rPr sz="1800">
                <a:latin typeface="Courier"/>
              </a:rPr>
              <a:t>(bmi_catLogit))) </a:t>
            </a:r>
            <a:br/>
            <a:r>
              <a:rPr sz="1800">
                <a:latin typeface="Courier"/>
              </a:rPr>
              <a:t>  ORbmi_cat </a:t>
            </a:r>
            <a:r>
              <a:rPr sz="1800" i="1">
                <a:solidFill>
                  <a:srgbClr val="60A0B0"/>
                </a:solidFill>
                <a:latin typeface="Courier"/>
              </a:rPr>
              <a:t>#print ORs and 95% CIs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9158E-B82D-1D40-88A0-A840EFE5C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Get model predicted probabilities that an observation is a 1 vs. a 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11A7D-CD86-E440-8A5A-C775A97D40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270000" lvl="0" indent="0">
              <a:buNone/>
            </a:pPr>
            <a:r>
              <a:rPr sz="1800">
                <a:latin typeface="Courier"/>
              </a:rPr>
              <a:t>preds&lt;-</a:t>
            </a:r>
            <a:r>
              <a:rPr sz="1800" b="1">
                <a:solidFill>
                  <a:srgbClr val="007020"/>
                </a:solidFill>
                <a:latin typeface="Courier"/>
              </a:rPr>
              <a:t>predict</a:t>
            </a:r>
            <a:r>
              <a:rPr sz="1800">
                <a:latin typeface="Courier"/>
              </a:rPr>
              <a:t>(bmi_catLogit, </a:t>
            </a:r>
            <a:r>
              <a:rPr sz="1800">
                <a:solidFill>
                  <a:srgbClr val="902000"/>
                </a:solidFill>
                <a:latin typeface="Courier"/>
              </a:rPr>
              <a:t>newdata=</a:t>
            </a:r>
            <a:r>
              <a:rPr sz="1800">
                <a:latin typeface="Courier"/>
              </a:rPr>
              <a:t>BRFSS, </a:t>
            </a:r>
            <a:r>
              <a:rPr sz="1800">
                <a:solidFill>
                  <a:srgbClr val="902000"/>
                </a:solidFill>
                <a:latin typeface="Courier"/>
              </a:rPr>
              <a:t>type=</a:t>
            </a:r>
            <a:r>
              <a:rPr sz="1800">
                <a:solidFill>
                  <a:srgbClr val="4070A0"/>
                </a:solidFill>
                <a:latin typeface="Courier"/>
              </a:rPr>
              <a:t>'response'</a:t>
            </a:r>
            <a:r>
              <a:rPr sz="1800">
                <a:latin typeface="Courier"/>
              </a:rPr>
              <a:t>) </a:t>
            </a:r>
            <a:r>
              <a:rPr sz="1800" i="1">
                <a:solidFill>
                  <a:srgbClr val="60A0B0"/>
                </a:solidFill>
                <a:latin typeface="Courier"/>
              </a:rPr>
              <a:t>#to get probabilities, if you don't use it you will get log odds</a:t>
            </a:r>
            <a:br/>
            <a:br/>
            <a:r>
              <a:rPr sz="1800" b="1">
                <a:solidFill>
                  <a:srgbClr val="007020"/>
                </a:solidFill>
                <a:latin typeface="Courier"/>
              </a:rPr>
              <a:t>head</a:t>
            </a:r>
            <a:r>
              <a:rPr sz="1800">
                <a:latin typeface="Courier"/>
              </a:rPr>
              <a:t>(preds)</a:t>
            </a:r>
            <a:br/>
            <a:br/>
            <a:r>
              <a:rPr sz="1800" b="1">
                <a:solidFill>
                  <a:srgbClr val="007020"/>
                </a:solidFill>
                <a:latin typeface="Courier"/>
              </a:rPr>
              <a:t>hist</a:t>
            </a:r>
            <a:r>
              <a:rPr sz="1800">
                <a:latin typeface="Courier"/>
              </a:rPr>
              <a:t>(preds) </a:t>
            </a:r>
            <a:r>
              <a:rPr sz="1800" i="1">
                <a:solidFill>
                  <a:srgbClr val="60A0B0"/>
                </a:solidFill>
                <a:latin typeface="Courier"/>
              </a:rPr>
              <a:t>#the highest predicted probability of having diabetes (a 1) is 0.25. Since the cutoff for classifying something as a 1 in the odds.n.ends package by Dr. Harris is 0.5, we will get 0 predicted cases of diabetes using this model. This model would be terrible at classifying people with diabetes vs. not.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9158E-B82D-1D40-88A0-A840EFE5C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Make dataset of predicted probabilities and true diabetes label, plot probabilities by diabetes, and get sensitivity and specificity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11A7D-CD86-E440-8A5A-C775A97D40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270000" lvl="0" indent="0">
              <a:buNone/>
            </a:pPr>
            <a:r>
              <a:rPr sz="1800">
                <a:latin typeface="Courier"/>
              </a:rPr>
              <a:t>xt&lt;-</a:t>
            </a:r>
            <a:r>
              <a:rPr sz="1800" b="1">
                <a:solidFill>
                  <a:srgbClr val="007020"/>
                </a:solidFill>
                <a:latin typeface="Courier"/>
              </a:rPr>
              <a:t>as.data.frame</a:t>
            </a:r>
            <a:r>
              <a:rPr sz="1800">
                <a:latin typeface="Courier"/>
              </a:rPr>
              <a:t>(preds)</a:t>
            </a:r>
            <a:br/>
            <a:r>
              <a:rPr sz="1800">
                <a:latin typeface="Courier"/>
              </a:rPr>
              <a:t>xt2&lt;-</a:t>
            </a:r>
            <a:r>
              <a:rPr sz="1800" b="1">
                <a:solidFill>
                  <a:srgbClr val="007020"/>
                </a:solidFill>
                <a:latin typeface="Courier"/>
              </a:rPr>
              <a:t>cbind</a:t>
            </a:r>
            <a:r>
              <a:rPr sz="1800">
                <a:latin typeface="Courier"/>
              </a:rPr>
              <a:t>(xt, BRFSS</a:t>
            </a:r>
            <a:r>
              <a:rPr sz="1800">
                <a:solidFill>
                  <a:srgbClr val="666666"/>
                </a:solidFill>
                <a:latin typeface="Courier"/>
              </a:rPr>
              <a:t>$</a:t>
            </a:r>
            <a:r>
              <a:rPr sz="1800">
                <a:latin typeface="Courier"/>
              </a:rPr>
              <a:t>diabetes_binary)</a:t>
            </a:r>
            <a:br/>
            <a:br/>
            <a:r>
              <a:rPr sz="1800" i="1">
                <a:solidFill>
                  <a:srgbClr val="60A0B0"/>
                </a:solidFill>
                <a:latin typeface="Courier"/>
              </a:rPr>
              <a:t>#plot the distribution of the predicted probabilities for those with and without diabetes</a:t>
            </a:r>
            <a:br/>
            <a:r>
              <a:rPr sz="1800" b="1">
                <a:solidFill>
                  <a:srgbClr val="007020"/>
                </a:solidFill>
                <a:latin typeface="Courier"/>
              </a:rPr>
              <a:t>ggplot</a:t>
            </a:r>
            <a:r>
              <a:rPr sz="1800">
                <a:latin typeface="Courier"/>
              </a:rPr>
              <a:t>(</a:t>
            </a:r>
            <a:r>
              <a:rPr sz="1800">
                <a:solidFill>
                  <a:srgbClr val="902000"/>
                </a:solidFill>
                <a:latin typeface="Courier"/>
              </a:rPr>
              <a:t>data=</a:t>
            </a:r>
            <a:r>
              <a:rPr sz="1800">
                <a:latin typeface="Courier"/>
              </a:rPr>
              <a:t>xt2) </a:t>
            </a:r>
            <a:r>
              <a:rPr sz="1800">
                <a:solidFill>
                  <a:srgbClr val="666666"/>
                </a:solidFill>
                <a:latin typeface="Courier"/>
              </a:rPr>
              <a:t>+</a:t>
            </a:r>
            <a:br/>
            <a:r>
              <a:rPr sz="1800">
                <a:solidFill>
                  <a:srgbClr val="4070A0"/>
                </a:solidFill>
                <a:latin typeface="Courier"/>
              </a:rPr>
              <a:t>  </a:t>
            </a:r>
            <a:r>
              <a:rPr sz="1800" b="1">
                <a:solidFill>
                  <a:srgbClr val="007020"/>
                </a:solidFill>
                <a:latin typeface="Courier"/>
              </a:rPr>
              <a:t>geom_density</a:t>
            </a:r>
            <a:r>
              <a:rPr sz="1800">
                <a:latin typeface="Courier"/>
              </a:rPr>
              <a:t>(</a:t>
            </a:r>
            <a:r>
              <a:rPr sz="1800" b="1">
                <a:solidFill>
                  <a:srgbClr val="007020"/>
                </a:solidFill>
                <a:latin typeface="Courier"/>
              </a:rPr>
              <a:t>aes</a:t>
            </a:r>
            <a:r>
              <a:rPr sz="1800">
                <a:latin typeface="Courier"/>
              </a:rPr>
              <a:t>(</a:t>
            </a:r>
            <a:r>
              <a:rPr sz="1800">
                <a:solidFill>
                  <a:srgbClr val="902000"/>
                </a:solidFill>
                <a:latin typeface="Courier"/>
              </a:rPr>
              <a:t>x=</a:t>
            </a:r>
            <a:r>
              <a:rPr sz="1800">
                <a:latin typeface="Courier"/>
              </a:rPr>
              <a:t>preds, </a:t>
            </a:r>
            <a:r>
              <a:rPr sz="1800">
                <a:solidFill>
                  <a:srgbClr val="902000"/>
                </a:solidFill>
                <a:latin typeface="Courier"/>
              </a:rPr>
              <a:t>color=</a:t>
            </a:r>
            <a:r>
              <a:rPr sz="1800">
                <a:latin typeface="Courier"/>
              </a:rPr>
              <a:t>BRFSS</a:t>
            </a:r>
            <a:r>
              <a:rPr sz="1800">
                <a:solidFill>
                  <a:srgbClr val="666666"/>
                </a:solidFill>
                <a:latin typeface="Courier"/>
              </a:rPr>
              <a:t>$</a:t>
            </a:r>
            <a:r>
              <a:rPr sz="1800">
                <a:latin typeface="Courier"/>
              </a:rPr>
              <a:t>diabetes_binary, </a:t>
            </a:r>
            <a:r>
              <a:rPr sz="1800">
                <a:solidFill>
                  <a:srgbClr val="902000"/>
                </a:solidFill>
                <a:latin typeface="Courier"/>
              </a:rPr>
              <a:t>linetype=</a:t>
            </a:r>
            <a:r>
              <a:rPr sz="1800">
                <a:latin typeface="Courier"/>
              </a:rPr>
              <a:t>BRFSS</a:t>
            </a:r>
            <a:r>
              <a:rPr sz="1800">
                <a:solidFill>
                  <a:srgbClr val="666666"/>
                </a:solidFill>
                <a:latin typeface="Courier"/>
              </a:rPr>
              <a:t>$</a:t>
            </a:r>
            <a:r>
              <a:rPr sz="1800">
                <a:latin typeface="Courier"/>
              </a:rPr>
              <a:t>diabetes_binary))</a:t>
            </a:r>
            <a:br/>
            <a:br/>
            <a:r>
              <a:rPr sz="1800" b="1">
                <a:solidFill>
                  <a:srgbClr val="007020"/>
                </a:solidFill>
                <a:latin typeface="Courier"/>
              </a:rPr>
              <a:t>odds.n.ends</a:t>
            </a:r>
            <a:r>
              <a:rPr sz="1800">
                <a:latin typeface="Courier"/>
              </a:rPr>
              <a:t>(bmi_catLogit) </a:t>
            </a:r>
            <a:r>
              <a:rPr sz="1800" i="1">
                <a:solidFill>
                  <a:srgbClr val="60A0B0"/>
                </a:solidFill>
                <a:latin typeface="Courier"/>
              </a:rPr>
              <a:t>#This function will show us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9158E-B82D-1D40-88A0-A840EFE5C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 note on model prediction accuracy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11A7D-CD86-E440-8A5A-C775A97D40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Accuracy is akin to % agreement between the model predictions and the true values</a:t>
            </a:r>
          </a:p>
          <a:p>
            <a:pPr lvl="1"/>
            <a:r>
              <a:t>The accuracy of the above model is (0+35476)/41383=85.7%. It predicts all 0’s correctly (100% correct) and all 1’s incorrect (0% correct)</a:t>
            </a:r>
          </a:p>
          <a:p>
            <a:pPr lvl="1"/>
            <a:r>
              <a:t>Therefore, accuracy is not a good measure for the model’s performance and logistic doesn’t work well as a classifier when the prevalence of the event/outcome is low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9158E-B82D-1D40-88A0-A840EFE5C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What if bmi is treated as a continuous variable? What happens to sensitivity?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11A7D-CD86-E440-8A5A-C775A97D40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270000" lvl="0" indent="0">
              <a:buNone/>
            </a:pPr>
            <a:r>
              <a:rPr sz="1800">
                <a:latin typeface="Courier"/>
              </a:rPr>
              <a:t>bmi_cont_logit &lt;-</a:t>
            </a:r>
            <a:r>
              <a:rPr sz="1800">
                <a:solidFill>
                  <a:srgbClr val="4070A0"/>
                </a:solidFill>
                <a:latin typeface="Courier"/>
              </a:rPr>
              <a:t> </a:t>
            </a:r>
            <a:r>
              <a:rPr sz="1800" b="1">
                <a:solidFill>
                  <a:srgbClr val="007020"/>
                </a:solidFill>
                <a:latin typeface="Courier"/>
              </a:rPr>
              <a:t>glm</a:t>
            </a:r>
            <a:r>
              <a:rPr sz="1800">
                <a:latin typeface="Courier"/>
              </a:rPr>
              <a:t>(diabetes_binary </a:t>
            </a:r>
            <a:r>
              <a:rPr sz="1800">
                <a:solidFill>
                  <a:srgbClr val="666666"/>
                </a:solidFill>
                <a:latin typeface="Courier"/>
              </a:rPr>
              <a:t>~</a:t>
            </a:r>
            <a:r>
              <a:rPr sz="1800">
                <a:latin typeface="Courier"/>
              </a:rPr>
              <a:t>bmi , </a:t>
            </a:r>
            <a:r>
              <a:rPr sz="1800">
                <a:solidFill>
                  <a:srgbClr val="902000"/>
                </a:solidFill>
                <a:latin typeface="Courier"/>
              </a:rPr>
              <a:t>data=</a:t>
            </a:r>
            <a:r>
              <a:rPr sz="1800">
                <a:latin typeface="Courier"/>
              </a:rPr>
              <a:t>BRFSS, </a:t>
            </a:r>
            <a:r>
              <a:rPr sz="1800">
                <a:solidFill>
                  <a:srgbClr val="902000"/>
                </a:solidFill>
                <a:latin typeface="Courier"/>
              </a:rPr>
              <a:t>family=</a:t>
            </a:r>
            <a:r>
              <a:rPr sz="1800">
                <a:solidFill>
                  <a:srgbClr val="4070A0"/>
                </a:solidFill>
                <a:latin typeface="Courier"/>
              </a:rPr>
              <a:t>"binomial"</a:t>
            </a:r>
            <a:r>
              <a:rPr sz="1800">
                <a:latin typeface="Courier"/>
              </a:rPr>
              <a:t>) </a:t>
            </a:r>
            <a:br/>
            <a:r>
              <a:rPr sz="1800">
                <a:latin typeface="Courier"/>
              </a:rPr>
              <a:t>  </a:t>
            </a:r>
            <a:r>
              <a:rPr sz="1800" b="1">
                <a:solidFill>
                  <a:srgbClr val="007020"/>
                </a:solidFill>
                <a:latin typeface="Courier"/>
              </a:rPr>
              <a:t>summary</a:t>
            </a:r>
            <a:r>
              <a:rPr sz="1800">
                <a:latin typeface="Courier"/>
              </a:rPr>
              <a:t>(bmi_cont_logit)</a:t>
            </a:r>
            <a:br/>
            <a:r>
              <a:rPr sz="1800">
                <a:latin typeface="Courier"/>
              </a:rPr>
              <a:t>  </a:t>
            </a:r>
            <a:br/>
            <a:r>
              <a:rPr sz="1800">
                <a:latin typeface="Courier"/>
              </a:rPr>
              <a:t>preds&lt;-</a:t>
            </a:r>
            <a:r>
              <a:rPr sz="1800" b="1">
                <a:solidFill>
                  <a:srgbClr val="007020"/>
                </a:solidFill>
                <a:latin typeface="Courier"/>
              </a:rPr>
              <a:t>predict</a:t>
            </a:r>
            <a:r>
              <a:rPr sz="1800">
                <a:latin typeface="Courier"/>
              </a:rPr>
              <a:t>(bmi_cont_logit, </a:t>
            </a:r>
            <a:r>
              <a:rPr sz="1800">
                <a:solidFill>
                  <a:srgbClr val="902000"/>
                </a:solidFill>
                <a:latin typeface="Courier"/>
              </a:rPr>
              <a:t>newdata=</a:t>
            </a:r>
            <a:r>
              <a:rPr sz="1800">
                <a:latin typeface="Courier"/>
              </a:rPr>
              <a:t>BRFSS, </a:t>
            </a:r>
            <a:r>
              <a:rPr sz="1800">
                <a:solidFill>
                  <a:srgbClr val="902000"/>
                </a:solidFill>
                <a:latin typeface="Courier"/>
              </a:rPr>
              <a:t>type=</a:t>
            </a:r>
            <a:r>
              <a:rPr sz="1800">
                <a:solidFill>
                  <a:srgbClr val="4070A0"/>
                </a:solidFill>
                <a:latin typeface="Courier"/>
              </a:rPr>
              <a:t>'response'</a:t>
            </a:r>
            <a:r>
              <a:rPr sz="1800">
                <a:latin typeface="Courier"/>
              </a:rPr>
              <a:t>) </a:t>
            </a:r>
            <a:r>
              <a:rPr sz="1800" i="1">
                <a:solidFill>
                  <a:srgbClr val="60A0B0"/>
                </a:solidFill>
                <a:latin typeface="Courier"/>
              </a:rPr>
              <a:t># get predicted probabilities</a:t>
            </a:r>
            <a:br/>
            <a:r>
              <a:rPr sz="1800" b="1">
                <a:solidFill>
                  <a:srgbClr val="007020"/>
                </a:solidFill>
                <a:latin typeface="Courier"/>
              </a:rPr>
              <a:t>hist</a:t>
            </a:r>
            <a:r>
              <a:rPr sz="1800">
                <a:latin typeface="Courier"/>
              </a:rPr>
              <a:t>(preds) </a:t>
            </a:r>
            <a:r>
              <a:rPr sz="1800" i="1">
                <a:solidFill>
                  <a:srgbClr val="60A0B0"/>
                </a:solidFill>
                <a:latin typeface="Courier"/>
              </a:rPr>
              <a:t># display histogram of predicted probabilities</a:t>
            </a:r>
            <a:br/>
            <a:br/>
            <a:r>
              <a:rPr sz="1800" b="1">
                <a:solidFill>
                  <a:srgbClr val="007020"/>
                </a:solidFill>
                <a:latin typeface="Courier"/>
              </a:rPr>
              <a:t>odds.n.ends</a:t>
            </a:r>
            <a:r>
              <a:rPr sz="1800">
                <a:latin typeface="Courier"/>
              </a:rPr>
              <a:t>(bmi_cont_logit) </a:t>
            </a:r>
            <a:r>
              <a:rPr sz="1800" i="1">
                <a:solidFill>
                  <a:srgbClr val="60A0B0"/>
                </a:solidFill>
                <a:latin typeface="Courier"/>
              </a:rPr>
              <a:t># look at summary values from model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9158E-B82D-1D40-88A0-A840EFE5C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What if we add a few more predictors? What happens to sensitivity?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11A7D-CD86-E440-8A5A-C775A97D40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270000" lvl="0" indent="0">
              <a:buNone/>
            </a:pPr>
            <a:r>
              <a:rPr sz="1800">
                <a:latin typeface="Courier"/>
              </a:rPr>
              <a:t>bmi_cont_logit2 &lt;-</a:t>
            </a:r>
            <a:r>
              <a:rPr sz="1800">
                <a:solidFill>
                  <a:srgbClr val="4070A0"/>
                </a:solidFill>
                <a:latin typeface="Courier"/>
              </a:rPr>
              <a:t> </a:t>
            </a:r>
            <a:r>
              <a:rPr sz="1800" b="1">
                <a:solidFill>
                  <a:srgbClr val="007020"/>
                </a:solidFill>
                <a:latin typeface="Courier"/>
              </a:rPr>
              <a:t>glm</a:t>
            </a:r>
            <a:r>
              <a:rPr sz="1800">
                <a:latin typeface="Courier"/>
              </a:rPr>
              <a:t>(diabetes_binary </a:t>
            </a:r>
            <a:r>
              <a:rPr sz="1800">
                <a:solidFill>
                  <a:srgbClr val="666666"/>
                </a:solidFill>
                <a:latin typeface="Courier"/>
              </a:rPr>
              <a:t>~</a:t>
            </a:r>
            <a:r>
              <a:rPr sz="1800">
                <a:latin typeface="Courier"/>
              </a:rPr>
              <a:t>bmi </a:t>
            </a:r>
            <a:r>
              <a:rPr sz="1800">
                <a:solidFill>
                  <a:srgbClr val="666666"/>
                </a:solidFill>
                <a:latin typeface="Courier"/>
              </a:rPr>
              <a:t>+</a:t>
            </a:r>
            <a:r>
              <a:rPr sz="1800">
                <a:solidFill>
                  <a:srgbClr val="4070A0"/>
                </a:solidFill>
                <a:latin typeface="Courier"/>
              </a:rPr>
              <a:t> </a:t>
            </a:r>
            <a:r>
              <a:rPr sz="1800">
                <a:latin typeface="Courier"/>
              </a:rPr>
              <a:t>X_AGE80 </a:t>
            </a:r>
            <a:r>
              <a:rPr sz="1800">
                <a:solidFill>
                  <a:srgbClr val="666666"/>
                </a:solidFill>
                <a:latin typeface="Courier"/>
              </a:rPr>
              <a:t>+</a:t>
            </a:r>
            <a:r>
              <a:rPr sz="1800">
                <a:solidFill>
                  <a:srgbClr val="4070A0"/>
                </a:solidFill>
                <a:latin typeface="Courier"/>
              </a:rPr>
              <a:t> </a:t>
            </a:r>
            <a:r>
              <a:rPr sz="1800">
                <a:latin typeface="Courier"/>
              </a:rPr>
              <a:t>sex, </a:t>
            </a:r>
            <a:r>
              <a:rPr sz="1800">
                <a:solidFill>
                  <a:srgbClr val="902000"/>
                </a:solidFill>
                <a:latin typeface="Courier"/>
              </a:rPr>
              <a:t>data=</a:t>
            </a:r>
            <a:r>
              <a:rPr sz="1800">
                <a:latin typeface="Courier"/>
              </a:rPr>
              <a:t>BRFSS, </a:t>
            </a:r>
            <a:r>
              <a:rPr sz="1800">
                <a:solidFill>
                  <a:srgbClr val="902000"/>
                </a:solidFill>
                <a:latin typeface="Courier"/>
              </a:rPr>
              <a:t>family=</a:t>
            </a:r>
            <a:r>
              <a:rPr sz="1800">
                <a:solidFill>
                  <a:srgbClr val="4070A0"/>
                </a:solidFill>
                <a:latin typeface="Courier"/>
              </a:rPr>
              <a:t>"binomial"</a:t>
            </a:r>
            <a:r>
              <a:rPr sz="1800">
                <a:latin typeface="Courier"/>
              </a:rPr>
              <a:t>) </a:t>
            </a:r>
            <a:r>
              <a:rPr sz="1800" i="1">
                <a:solidFill>
                  <a:srgbClr val="60A0B0"/>
                </a:solidFill>
                <a:latin typeface="Courier"/>
              </a:rPr>
              <a:t># add age and sex</a:t>
            </a:r>
            <a:br/>
            <a:r>
              <a:rPr sz="1800">
                <a:latin typeface="Courier"/>
              </a:rPr>
              <a:t>  </a:t>
            </a:r>
            <a:r>
              <a:rPr sz="1800" b="1">
                <a:solidFill>
                  <a:srgbClr val="007020"/>
                </a:solidFill>
                <a:latin typeface="Courier"/>
              </a:rPr>
              <a:t>summary</a:t>
            </a:r>
            <a:r>
              <a:rPr sz="1800">
                <a:latin typeface="Courier"/>
              </a:rPr>
              <a:t>(bmi_cont_logit2)</a:t>
            </a:r>
            <a:br/>
            <a:r>
              <a:rPr sz="1800">
                <a:latin typeface="Courier"/>
              </a:rPr>
              <a:t>  </a:t>
            </a:r>
            <a:br/>
            <a:r>
              <a:rPr sz="1800">
                <a:latin typeface="Courier"/>
              </a:rPr>
              <a:t>preds&lt;-</a:t>
            </a:r>
            <a:r>
              <a:rPr sz="1800" b="1">
                <a:solidFill>
                  <a:srgbClr val="007020"/>
                </a:solidFill>
                <a:latin typeface="Courier"/>
              </a:rPr>
              <a:t>predict</a:t>
            </a:r>
            <a:r>
              <a:rPr sz="1800">
                <a:latin typeface="Courier"/>
              </a:rPr>
              <a:t>(bmi_cont_logit2, </a:t>
            </a:r>
            <a:r>
              <a:rPr sz="1800">
                <a:solidFill>
                  <a:srgbClr val="902000"/>
                </a:solidFill>
                <a:latin typeface="Courier"/>
              </a:rPr>
              <a:t>newdata=</a:t>
            </a:r>
            <a:r>
              <a:rPr sz="1800">
                <a:latin typeface="Courier"/>
              </a:rPr>
              <a:t>BRFSS, </a:t>
            </a:r>
            <a:r>
              <a:rPr sz="1800">
                <a:solidFill>
                  <a:srgbClr val="902000"/>
                </a:solidFill>
                <a:latin typeface="Courier"/>
              </a:rPr>
              <a:t>type=</a:t>
            </a:r>
            <a:r>
              <a:rPr sz="1800">
                <a:solidFill>
                  <a:srgbClr val="4070A0"/>
                </a:solidFill>
                <a:latin typeface="Courier"/>
              </a:rPr>
              <a:t>'response'</a:t>
            </a:r>
            <a:r>
              <a:rPr sz="1800">
                <a:latin typeface="Courier"/>
              </a:rPr>
              <a:t>) </a:t>
            </a:r>
            <a:r>
              <a:rPr sz="1800" i="1">
                <a:solidFill>
                  <a:srgbClr val="60A0B0"/>
                </a:solidFill>
                <a:latin typeface="Courier"/>
              </a:rPr>
              <a:t># get predicted probabilities</a:t>
            </a:r>
            <a:br/>
            <a:r>
              <a:rPr sz="1800" b="1">
                <a:solidFill>
                  <a:srgbClr val="007020"/>
                </a:solidFill>
                <a:latin typeface="Courier"/>
              </a:rPr>
              <a:t>hist</a:t>
            </a:r>
            <a:r>
              <a:rPr sz="1800">
                <a:latin typeface="Courier"/>
              </a:rPr>
              <a:t>(preds) </a:t>
            </a:r>
            <a:r>
              <a:rPr sz="1800" i="1">
                <a:solidFill>
                  <a:srgbClr val="60A0B0"/>
                </a:solidFill>
                <a:latin typeface="Courier"/>
              </a:rPr>
              <a:t># display histogram of predicted probabilities</a:t>
            </a:r>
            <a:br/>
            <a:br/>
            <a:r>
              <a:rPr sz="1800" b="1">
                <a:solidFill>
                  <a:srgbClr val="007020"/>
                </a:solidFill>
                <a:latin typeface="Courier"/>
              </a:rPr>
              <a:t>odds.n.ends</a:t>
            </a:r>
            <a:r>
              <a:rPr sz="1800">
                <a:latin typeface="Courier"/>
              </a:rPr>
              <a:t>(bmi_cont_logit2) </a:t>
            </a:r>
            <a:r>
              <a:rPr sz="1800" i="1">
                <a:solidFill>
                  <a:srgbClr val="60A0B0"/>
                </a:solidFill>
                <a:latin typeface="Courier"/>
              </a:rPr>
              <a:t># look at summary values from model and get sensitivity and specificity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9158E-B82D-1D40-88A0-A840EFE5C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What happens if we balance the 1s and 0s?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11A7D-CD86-E440-8A5A-C775A97D40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Model performance improves with a balanced dependent variable.</a:t>
            </a:r>
          </a:p>
          <a:p>
            <a:pPr lvl="1"/>
            <a:r>
              <a:t>We can balance by undersampling the majority class.</a:t>
            </a:r>
          </a:p>
          <a:p>
            <a:pPr lvl="1"/>
            <a:r>
              <a:t>Can we predict more 1’s at a cutoff for predicted probability of 0.5 the default for odds.n.ends (i.e. increase model sensitivity)?</a:t>
            </a:r>
          </a:p>
          <a:p>
            <a:pPr marL="1270000" lvl="0" indent="0">
              <a:buNone/>
            </a:pPr>
            <a:r>
              <a:rPr sz="1800" i="1">
                <a:solidFill>
                  <a:srgbClr val="60A0B0"/>
                </a:solidFill>
                <a:latin typeface="Courier"/>
              </a:rPr>
              <a:t>#create new dataset with diabetes_binary= 0</a:t>
            </a:r>
            <a:br/>
            <a:r>
              <a:rPr sz="1800">
                <a:latin typeface="Courier"/>
              </a:rPr>
              <a:t>BRFSS_zero&lt;-</a:t>
            </a:r>
            <a:r>
              <a:rPr sz="1800" b="1">
                <a:solidFill>
                  <a:srgbClr val="007020"/>
                </a:solidFill>
                <a:latin typeface="Courier"/>
              </a:rPr>
              <a:t>sample_n</a:t>
            </a:r>
            <a:r>
              <a:rPr sz="1800">
                <a:latin typeface="Courier"/>
              </a:rPr>
              <a:t>(BRFSS[</a:t>
            </a:r>
            <a:r>
              <a:rPr sz="1800" b="1">
                <a:solidFill>
                  <a:srgbClr val="007020"/>
                </a:solidFill>
                <a:latin typeface="Courier"/>
              </a:rPr>
              <a:t>which</a:t>
            </a:r>
            <a:r>
              <a:rPr sz="1800">
                <a:latin typeface="Courier"/>
              </a:rPr>
              <a:t>(BRFSS</a:t>
            </a:r>
            <a:r>
              <a:rPr sz="1800">
                <a:solidFill>
                  <a:srgbClr val="666666"/>
                </a:solidFill>
                <a:latin typeface="Courier"/>
              </a:rPr>
              <a:t>$</a:t>
            </a:r>
            <a:r>
              <a:rPr sz="1800">
                <a:latin typeface="Courier"/>
              </a:rPr>
              <a:t>diabetes_binary</a:t>
            </a:r>
            <a:r>
              <a:rPr sz="1800">
                <a:solidFill>
                  <a:srgbClr val="666666"/>
                </a:solidFill>
                <a:latin typeface="Courier"/>
              </a:rPr>
              <a:t>==</a:t>
            </a:r>
            <a:r>
              <a:rPr sz="1800">
                <a:solidFill>
                  <a:srgbClr val="4070A0"/>
                </a:solidFill>
                <a:latin typeface="Courier"/>
              </a:rPr>
              <a:t>'No Diabetes'</a:t>
            </a:r>
            <a:r>
              <a:rPr sz="1800">
                <a:latin typeface="Courier"/>
              </a:rPr>
              <a:t>),], </a:t>
            </a:r>
            <a:r>
              <a:rPr sz="1800">
                <a:solidFill>
                  <a:srgbClr val="902000"/>
                </a:solidFill>
                <a:latin typeface="Courier"/>
              </a:rPr>
              <a:t>size=</a:t>
            </a:r>
            <a:r>
              <a:rPr sz="1800">
                <a:solidFill>
                  <a:srgbClr val="40A070"/>
                </a:solidFill>
                <a:latin typeface="Courier"/>
              </a:rPr>
              <a:t>6367</a:t>
            </a:r>
            <a:r>
              <a:rPr sz="1800">
                <a:latin typeface="Courier"/>
              </a:rPr>
              <a:t>) </a:t>
            </a:r>
            <a:r>
              <a:rPr sz="1800" i="1">
                <a:solidFill>
                  <a:srgbClr val="60A0B0"/>
                </a:solidFill>
                <a:latin typeface="Courier"/>
              </a:rPr>
              <a:t># sample from non-Diabetes cases 1:1 as cases</a:t>
            </a:r>
            <a:br/>
            <a:br/>
            <a:r>
              <a:rPr sz="1800">
                <a:latin typeface="Courier"/>
              </a:rPr>
              <a:t>BRFSS_one&lt;-BRFSS[</a:t>
            </a:r>
            <a:r>
              <a:rPr sz="1800" b="1">
                <a:solidFill>
                  <a:srgbClr val="007020"/>
                </a:solidFill>
                <a:latin typeface="Courier"/>
              </a:rPr>
              <a:t>which</a:t>
            </a:r>
            <a:r>
              <a:rPr sz="1800">
                <a:latin typeface="Courier"/>
              </a:rPr>
              <a:t>(BRFSS</a:t>
            </a:r>
            <a:r>
              <a:rPr sz="1800">
                <a:solidFill>
                  <a:srgbClr val="666666"/>
                </a:solidFill>
                <a:latin typeface="Courier"/>
              </a:rPr>
              <a:t>$</a:t>
            </a:r>
            <a:r>
              <a:rPr sz="1800">
                <a:latin typeface="Courier"/>
              </a:rPr>
              <a:t>diabetes_binary</a:t>
            </a:r>
            <a:r>
              <a:rPr sz="1800">
                <a:solidFill>
                  <a:srgbClr val="666666"/>
                </a:solidFill>
                <a:latin typeface="Courier"/>
              </a:rPr>
              <a:t>==</a:t>
            </a:r>
            <a:r>
              <a:rPr sz="1800">
                <a:solidFill>
                  <a:srgbClr val="4070A0"/>
                </a:solidFill>
                <a:latin typeface="Courier"/>
              </a:rPr>
              <a:t>'Diabetes'</a:t>
            </a:r>
            <a:r>
              <a:rPr sz="1800">
                <a:latin typeface="Courier"/>
              </a:rPr>
              <a:t>),] </a:t>
            </a:r>
            <a:r>
              <a:rPr sz="1800" i="1">
                <a:solidFill>
                  <a:srgbClr val="60A0B0"/>
                </a:solidFill>
                <a:latin typeface="Courier"/>
              </a:rPr>
              <a:t># diabetes cases conly</a:t>
            </a:r>
            <a:br/>
            <a:r>
              <a:rPr sz="1800">
                <a:latin typeface="Courier"/>
              </a:rPr>
              <a:t>BRFSS_balance&lt;-</a:t>
            </a:r>
            <a:r>
              <a:rPr sz="1800">
                <a:solidFill>
                  <a:srgbClr val="4070A0"/>
                </a:solidFill>
                <a:latin typeface="Courier"/>
              </a:rPr>
              <a:t> </a:t>
            </a:r>
            <a:r>
              <a:rPr sz="1800" b="1">
                <a:solidFill>
                  <a:srgbClr val="007020"/>
                </a:solidFill>
                <a:latin typeface="Courier"/>
              </a:rPr>
              <a:t>rbind</a:t>
            </a:r>
            <a:r>
              <a:rPr sz="1800">
                <a:latin typeface="Courier"/>
              </a:rPr>
              <a:t>(BRFSS_zero,BRFSS_one) </a:t>
            </a:r>
            <a:r>
              <a:rPr sz="1800" i="1">
                <a:solidFill>
                  <a:srgbClr val="60A0B0"/>
                </a:solidFill>
                <a:latin typeface="Courier"/>
              </a:rPr>
              <a:t>#Combine these datasets by row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9158E-B82D-1D40-88A0-A840EFE5C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Run model using new data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11A7D-CD86-E440-8A5A-C775A97D40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270000" lvl="0" indent="0">
              <a:buNone/>
            </a:pPr>
            <a:r>
              <a:rPr sz="1800">
                <a:latin typeface="Courier"/>
              </a:rPr>
              <a:t>bmi_cont_logit_b &lt;-</a:t>
            </a:r>
            <a:r>
              <a:rPr sz="1800">
                <a:solidFill>
                  <a:srgbClr val="4070A0"/>
                </a:solidFill>
                <a:latin typeface="Courier"/>
              </a:rPr>
              <a:t> </a:t>
            </a:r>
            <a:r>
              <a:rPr sz="1800" b="1">
                <a:solidFill>
                  <a:srgbClr val="007020"/>
                </a:solidFill>
                <a:latin typeface="Courier"/>
              </a:rPr>
              <a:t>glm</a:t>
            </a:r>
            <a:r>
              <a:rPr sz="1800">
                <a:latin typeface="Courier"/>
              </a:rPr>
              <a:t>(diabetes_binary </a:t>
            </a:r>
            <a:r>
              <a:rPr sz="1800">
                <a:solidFill>
                  <a:srgbClr val="666666"/>
                </a:solidFill>
                <a:latin typeface="Courier"/>
              </a:rPr>
              <a:t>~</a:t>
            </a:r>
            <a:r>
              <a:rPr sz="1800">
                <a:latin typeface="Courier"/>
              </a:rPr>
              <a:t>bmi</a:t>
            </a:r>
            <a:r>
              <a:rPr sz="1800">
                <a:solidFill>
                  <a:srgbClr val="666666"/>
                </a:solidFill>
                <a:latin typeface="Courier"/>
              </a:rPr>
              <a:t>+</a:t>
            </a:r>
            <a:r>
              <a:rPr sz="1800">
                <a:solidFill>
                  <a:srgbClr val="4070A0"/>
                </a:solidFill>
                <a:latin typeface="Courier"/>
              </a:rPr>
              <a:t> </a:t>
            </a:r>
            <a:r>
              <a:rPr sz="1800">
                <a:latin typeface="Courier"/>
              </a:rPr>
              <a:t>X_AGE80 </a:t>
            </a:r>
            <a:r>
              <a:rPr sz="1800">
                <a:solidFill>
                  <a:srgbClr val="666666"/>
                </a:solidFill>
                <a:latin typeface="Courier"/>
              </a:rPr>
              <a:t>+</a:t>
            </a:r>
            <a:r>
              <a:rPr sz="1800">
                <a:solidFill>
                  <a:srgbClr val="4070A0"/>
                </a:solidFill>
                <a:latin typeface="Courier"/>
              </a:rPr>
              <a:t> </a:t>
            </a:r>
            <a:r>
              <a:rPr sz="1800">
                <a:latin typeface="Courier"/>
              </a:rPr>
              <a:t>sex, </a:t>
            </a:r>
            <a:r>
              <a:rPr sz="1800">
                <a:solidFill>
                  <a:srgbClr val="902000"/>
                </a:solidFill>
                <a:latin typeface="Courier"/>
              </a:rPr>
              <a:t>data=</a:t>
            </a:r>
            <a:r>
              <a:rPr sz="1800">
                <a:latin typeface="Courier"/>
              </a:rPr>
              <a:t>BRFSS_balance, </a:t>
            </a:r>
            <a:r>
              <a:rPr sz="1800">
                <a:solidFill>
                  <a:srgbClr val="902000"/>
                </a:solidFill>
                <a:latin typeface="Courier"/>
              </a:rPr>
              <a:t>family=</a:t>
            </a:r>
            <a:r>
              <a:rPr sz="1800">
                <a:solidFill>
                  <a:srgbClr val="4070A0"/>
                </a:solidFill>
                <a:latin typeface="Courier"/>
              </a:rPr>
              <a:t>"binomial"</a:t>
            </a:r>
            <a:r>
              <a:rPr sz="1800">
                <a:latin typeface="Courier"/>
              </a:rPr>
              <a:t>)</a:t>
            </a:r>
            <a:br/>
            <a:r>
              <a:rPr sz="1800">
                <a:latin typeface="Courier"/>
              </a:rPr>
              <a:t>  </a:t>
            </a:r>
            <a:r>
              <a:rPr sz="1800" b="1">
                <a:solidFill>
                  <a:srgbClr val="007020"/>
                </a:solidFill>
                <a:latin typeface="Courier"/>
              </a:rPr>
              <a:t>summary</a:t>
            </a:r>
            <a:r>
              <a:rPr sz="1800">
                <a:latin typeface="Courier"/>
              </a:rPr>
              <a:t>(bmi_cont_logit_b)</a:t>
            </a:r>
          </a:p>
          <a:p>
            <a:pPr marL="1270000" lvl="0" indent="0">
              <a:buNone/>
            </a:pPr>
            <a:r>
              <a:rPr sz="1800" i="1">
                <a:solidFill>
                  <a:srgbClr val="60A0B0"/>
                </a:solidFill>
                <a:latin typeface="Courier"/>
              </a:rPr>
              <a:t>#get predicted probabilities</a:t>
            </a:r>
            <a:br/>
            <a:r>
              <a:rPr sz="1800">
                <a:latin typeface="Courier"/>
              </a:rPr>
              <a:t>preds&lt;-</a:t>
            </a:r>
            <a:r>
              <a:rPr sz="1800" b="1">
                <a:solidFill>
                  <a:srgbClr val="007020"/>
                </a:solidFill>
                <a:latin typeface="Courier"/>
              </a:rPr>
              <a:t>predict</a:t>
            </a:r>
            <a:r>
              <a:rPr sz="1800">
                <a:latin typeface="Courier"/>
              </a:rPr>
              <a:t>(bmi_cont_logit_b, </a:t>
            </a:r>
            <a:r>
              <a:rPr sz="1800">
                <a:solidFill>
                  <a:srgbClr val="902000"/>
                </a:solidFill>
                <a:latin typeface="Courier"/>
              </a:rPr>
              <a:t>newdata=</a:t>
            </a:r>
            <a:r>
              <a:rPr sz="1800">
                <a:latin typeface="Courier"/>
              </a:rPr>
              <a:t>BRFSS, </a:t>
            </a:r>
            <a:r>
              <a:rPr sz="1800">
                <a:solidFill>
                  <a:srgbClr val="902000"/>
                </a:solidFill>
                <a:latin typeface="Courier"/>
              </a:rPr>
              <a:t>type=</a:t>
            </a:r>
            <a:r>
              <a:rPr sz="1800">
                <a:solidFill>
                  <a:srgbClr val="4070A0"/>
                </a:solidFill>
                <a:latin typeface="Courier"/>
              </a:rPr>
              <a:t>'response'</a:t>
            </a:r>
            <a:r>
              <a:rPr sz="1800">
                <a:latin typeface="Courier"/>
              </a:rPr>
              <a:t>)</a:t>
            </a:r>
            <a:br/>
            <a:r>
              <a:rPr sz="1800" b="1">
                <a:solidFill>
                  <a:srgbClr val="007020"/>
                </a:solidFill>
                <a:latin typeface="Courier"/>
              </a:rPr>
              <a:t>hist</a:t>
            </a:r>
            <a:r>
              <a:rPr sz="1800">
                <a:latin typeface="Courier"/>
              </a:rPr>
              <a:t>(preds)</a:t>
            </a:r>
            <a:br/>
            <a:r>
              <a:rPr sz="1800" b="1">
                <a:solidFill>
                  <a:srgbClr val="007020"/>
                </a:solidFill>
                <a:latin typeface="Courier"/>
              </a:rPr>
              <a:t>odds.n.ends</a:t>
            </a:r>
            <a:r>
              <a:rPr sz="1800">
                <a:latin typeface="Courier"/>
              </a:rPr>
              <a:t>(bmi_cont_logit_b)</a:t>
            </a:r>
            <a:br/>
            <a:br/>
            <a:r>
              <a:rPr sz="1800" i="1">
                <a:solidFill>
                  <a:srgbClr val="60A0B0"/>
                </a:solidFill>
                <a:latin typeface="Courier"/>
              </a:rPr>
              <a:t>#create dataset with predicted probabilities and diabetes labels (true values)</a:t>
            </a:r>
            <a:br/>
            <a:r>
              <a:rPr sz="1800">
                <a:latin typeface="Courier"/>
              </a:rPr>
              <a:t>xt&lt;-</a:t>
            </a:r>
            <a:r>
              <a:rPr sz="1800" b="1">
                <a:solidFill>
                  <a:srgbClr val="007020"/>
                </a:solidFill>
                <a:latin typeface="Courier"/>
              </a:rPr>
              <a:t>as.data.frame</a:t>
            </a:r>
            <a:r>
              <a:rPr sz="1800">
                <a:latin typeface="Courier"/>
              </a:rPr>
              <a:t>(preds)</a:t>
            </a:r>
            <a:br/>
            <a:r>
              <a:rPr sz="1800">
                <a:latin typeface="Courier"/>
              </a:rPr>
              <a:t>xt2&lt;-</a:t>
            </a:r>
            <a:r>
              <a:rPr sz="1800" b="1">
                <a:solidFill>
                  <a:srgbClr val="007020"/>
                </a:solidFill>
                <a:latin typeface="Courier"/>
              </a:rPr>
              <a:t>cbind</a:t>
            </a:r>
            <a:r>
              <a:rPr sz="1800">
                <a:latin typeface="Courier"/>
              </a:rPr>
              <a:t>(xt, BRFSS</a:t>
            </a:r>
            <a:r>
              <a:rPr sz="1800">
                <a:solidFill>
                  <a:srgbClr val="666666"/>
                </a:solidFill>
                <a:latin typeface="Courier"/>
              </a:rPr>
              <a:t>$</a:t>
            </a:r>
            <a:r>
              <a:rPr sz="1800">
                <a:latin typeface="Courier"/>
              </a:rPr>
              <a:t>diabetes_binary)</a:t>
            </a:r>
            <a:br/>
            <a:br/>
            <a:r>
              <a:rPr sz="1800" i="1">
                <a:solidFill>
                  <a:srgbClr val="60A0B0"/>
                </a:solidFill>
                <a:latin typeface="Courier"/>
              </a:rPr>
              <a:t>#plot distribution of predicted probabilities for diabetes and no diabetes</a:t>
            </a:r>
            <a:br/>
            <a:r>
              <a:rPr sz="1800" b="1">
                <a:solidFill>
                  <a:srgbClr val="007020"/>
                </a:solidFill>
                <a:latin typeface="Courier"/>
              </a:rPr>
              <a:t>ggplot</a:t>
            </a:r>
            <a:r>
              <a:rPr sz="1800">
                <a:latin typeface="Courier"/>
              </a:rPr>
              <a:t>(</a:t>
            </a:r>
            <a:r>
              <a:rPr sz="1800">
                <a:solidFill>
                  <a:srgbClr val="902000"/>
                </a:solidFill>
                <a:latin typeface="Courier"/>
              </a:rPr>
              <a:t>data=</a:t>
            </a:r>
            <a:r>
              <a:rPr sz="1800">
                <a:latin typeface="Courier"/>
              </a:rPr>
              <a:t>xt2) </a:t>
            </a:r>
            <a:r>
              <a:rPr sz="1800">
                <a:solidFill>
                  <a:srgbClr val="666666"/>
                </a:solidFill>
                <a:latin typeface="Courier"/>
              </a:rPr>
              <a:t>+</a:t>
            </a:r>
            <a:br/>
            <a:r>
              <a:rPr sz="1800">
                <a:solidFill>
                  <a:srgbClr val="4070A0"/>
                </a:solidFill>
                <a:latin typeface="Courier"/>
              </a:rPr>
              <a:t>  </a:t>
            </a:r>
            <a:r>
              <a:rPr sz="1800" b="1">
                <a:solidFill>
                  <a:srgbClr val="007020"/>
                </a:solidFill>
                <a:latin typeface="Courier"/>
              </a:rPr>
              <a:t>geom_density</a:t>
            </a:r>
            <a:r>
              <a:rPr sz="1800">
                <a:latin typeface="Courier"/>
              </a:rPr>
              <a:t>(</a:t>
            </a:r>
            <a:r>
              <a:rPr sz="1800" b="1">
                <a:solidFill>
                  <a:srgbClr val="007020"/>
                </a:solidFill>
                <a:latin typeface="Courier"/>
              </a:rPr>
              <a:t>aes</a:t>
            </a:r>
            <a:r>
              <a:rPr sz="1800">
                <a:latin typeface="Courier"/>
              </a:rPr>
              <a:t>(</a:t>
            </a:r>
            <a:r>
              <a:rPr sz="1800">
                <a:solidFill>
                  <a:srgbClr val="902000"/>
                </a:solidFill>
                <a:latin typeface="Courier"/>
              </a:rPr>
              <a:t>x=</a:t>
            </a:r>
            <a:r>
              <a:rPr sz="1800">
                <a:latin typeface="Courier"/>
              </a:rPr>
              <a:t>preds, </a:t>
            </a:r>
            <a:r>
              <a:rPr sz="1800">
                <a:solidFill>
                  <a:srgbClr val="902000"/>
                </a:solidFill>
                <a:latin typeface="Courier"/>
              </a:rPr>
              <a:t>color=</a:t>
            </a:r>
            <a:r>
              <a:rPr sz="1800">
                <a:latin typeface="Courier"/>
              </a:rPr>
              <a:t>BRFSS</a:t>
            </a:r>
            <a:r>
              <a:rPr sz="1800">
                <a:solidFill>
                  <a:srgbClr val="666666"/>
                </a:solidFill>
                <a:latin typeface="Courier"/>
              </a:rPr>
              <a:t>$</a:t>
            </a:r>
            <a:r>
              <a:rPr sz="1800">
                <a:latin typeface="Courier"/>
              </a:rPr>
              <a:t>diabetes_binary, </a:t>
            </a:r>
            <a:r>
              <a:rPr sz="1800">
                <a:solidFill>
                  <a:srgbClr val="902000"/>
                </a:solidFill>
                <a:latin typeface="Courier"/>
              </a:rPr>
              <a:t>linetype=</a:t>
            </a:r>
            <a:r>
              <a:rPr sz="1800">
                <a:latin typeface="Courier"/>
              </a:rPr>
              <a:t>BRFSS</a:t>
            </a:r>
            <a:r>
              <a:rPr sz="1800">
                <a:solidFill>
                  <a:srgbClr val="666666"/>
                </a:solidFill>
                <a:latin typeface="Courier"/>
              </a:rPr>
              <a:t>$</a:t>
            </a:r>
            <a:r>
              <a:rPr sz="1800">
                <a:latin typeface="Courier"/>
              </a:rPr>
              <a:t>diabetes_binary))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9158E-B82D-1D40-88A0-A840EFE5C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Receiver operating characteristic curves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11A7D-CD86-E440-8A5A-C775A97D40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ROC curves plot the true positive rate (aka sensitivity and recall) against the false positive rate (1-specificity) across predictive probability thresholds for classifying an observation as a 0 or a 1</a:t>
            </a:r>
            <a:br/>
            <a:endParaRPr/>
          </a:p>
          <a:p>
            <a:pPr lvl="1"/>
            <a:r>
              <a:t>ROC curves give possible trade-offs between sensitivity and specificity for the logistic regression classifier</a:t>
            </a:r>
            <a:br/>
            <a:endParaRPr/>
          </a:p>
          <a:p>
            <a:pPr lvl="1"/>
            <a:r>
              <a:t>We can use ROC curves to determine the threshold for the highest sensitivity and lowest false positive rate for the model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9158E-B82D-1D40-88A0-A840EFE5C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ROC curve</a:t>
            </a:r>
          </a:p>
        </p:txBody>
      </p:sp>
      <p:pic>
        <p:nvPicPr>
          <p:cNvPr id="3" name="Picture 1" descr="https://scikit-learn.org/stable/_images/sphx_glr_plot_roc_00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200400" y="1816100"/>
            <a:ext cx="57912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9158E-B82D-1D40-88A0-A840EFE5C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Thresholds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11A7D-CD86-E440-8A5A-C775A97D40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If we are using logistic regression as a classifier (training a model to have optimal validity (sensitivity and specificity) and then applying it to a test set for classifying observations with </a:t>
            </a:r>
            <a:r>
              <a:rPr i="1"/>
              <a:t>unknown true values</a:t>
            </a:r>
            <a:r>
              <a:t>, we can set a threshold for what predicted probabilities will classify someone as a 1 vs. a 0 (e.g. diabetes vs. no diabetes)</a:t>
            </a:r>
          </a:p>
          <a:p>
            <a:pPr lvl="1"/>
            <a:r>
              <a:t>The blue dashed line in the ROC curve figure is for different threshold values (predicted probabilities for classifying an observation as having the characteristic). Thresholds range range from 1 in the lower left corner (100% specific) to 0 in the upper right corner (100% sensitive)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9158E-B82D-1D40-88A0-A840EFE5C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Plotting ROC curves–we use functions in the ROCR package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11A7D-CD86-E440-8A5A-C775A97D40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270000" lvl="0" indent="0">
              <a:buNone/>
            </a:pPr>
            <a:r>
              <a:rPr sz="1800">
                <a:latin typeface="Courier"/>
              </a:rPr>
              <a:t>preds&lt;-</a:t>
            </a:r>
            <a:r>
              <a:rPr sz="1800" b="1">
                <a:solidFill>
                  <a:srgbClr val="007020"/>
                </a:solidFill>
                <a:latin typeface="Courier"/>
              </a:rPr>
              <a:t>predict</a:t>
            </a:r>
            <a:r>
              <a:rPr sz="1800">
                <a:latin typeface="Courier"/>
              </a:rPr>
              <a:t>(bmi_cont_logit_b, </a:t>
            </a:r>
            <a:r>
              <a:rPr sz="1800">
                <a:solidFill>
                  <a:srgbClr val="902000"/>
                </a:solidFill>
                <a:latin typeface="Courier"/>
              </a:rPr>
              <a:t>newdata=</a:t>
            </a:r>
            <a:r>
              <a:rPr sz="1800">
                <a:latin typeface="Courier"/>
              </a:rPr>
              <a:t>BRFSS_balance, </a:t>
            </a:r>
            <a:r>
              <a:rPr sz="1800">
                <a:solidFill>
                  <a:srgbClr val="902000"/>
                </a:solidFill>
                <a:latin typeface="Courier"/>
              </a:rPr>
              <a:t>type=</a:t>
            </a:r>
            <a:r>
              <a:rPr sz="1800">
                <a:solidFill>
                  <a:srgbClr val="4070A0"/>
                </a:solidFill>
                <a:latin typeface="Courier"/>
              </a:rPr>
              <a:t>'response'</a:t>
            </a:r>
            <a:r>
              <a:rPr sz="1800">
                <a:latin typeface="Courier"/>
              </a:rPr>
              <a:t>) </a:t>
            </a:r>
            <a:r>
              <a:rPr sz="1800" i="1">
                <a:solidFill>
                  <a:srgbClr val="60A0B0"/>
                </a:solidFill>
                <a:latin typeface="Courier"/>
              </a:rPr>
              <a:t>#get predicted probabilities from the model (bmi_catLogitb) and the actual values for diabetes from the BRFSS_balance dataset</a:t>
            </a:r>
            <a:br/>
            <a:br/>
            <a:r>
              <a:rPr sz="1800">
                <a:latin typeface="Courier"/>
              </a:rPr>
              <a:t>ROCR=</a:t>
            </a:r>
            <a:r>
              <a:rPr sz="1800" b="1">
                <a:solidFill>
                  <a:srgbClr val="007020"/>
                </a:solidFill>
                <a:latin typeface="Courier"/>
              </a:rPr>
              <a:t>prediction</a:t>
            </a:r>
            <a:r>
              <a:rPr sz="1800">
                <a:latin typeface="Courier"/>
              </a:rPr>
              <a:t>(</a:t>
            </a:r>
            <a:r>
              <a:rPr sz="1800" b="1">
                <a:solidFill>
                  <a:srgbClr val="007020"/>
                </a:solidFill>
                <a:latin typeface="Courier"/>
              </a:rPr>
              <a:t>as.numeric</a:t>
            </a:r>
            <a:r>
              <a:rPr sz="1800">
                <a:latin typeface="Courier"/>
              </a:rPr>
              <a:t>(preds), </a:t>
            </a:r>
            <a:r>
              <a:rPr sz="1800" b="1">
                <a:solidFill>
                  <a:srgbClr val="007020"/>
                </a:solidFill>
                <a:latin typeface="Courier"/>
              </a:rPr>
              <a:t>as.numeric</a:t>
            </a:r>
            <a:r>
              <a:rPr sz="1800">
                <a:latin typeface="Courier"/>
              </a:rPr>
              <a:t>(BRFSS_balance</a:t>
            </a:r>
            <a:r>
              <a:rPr sz="1800">
                <a:solidFill>
                  <a:srgbClr val="666666"/>
                </a:solidFill>
                <a:latin typeface="Courier"/>
              </a:rPr>
              <a:t>$</a:t>
            </a:r>
            <a:r>
              <a:rPr sz="1800">
                <a:latin typeface="Courier"/>
              </a:rPr>
              <a:t>diabetes_binary)) </a:t>
            </a:r>
            <a:r>
              <a:rPr sz="1800" i="1">
                <a:solidFill>
                  <a:srgbClr val="60A0B0"/>
                </a:solidFill>
                <a:latin typeface="Courier"/>
              </a:rPr>
              <a:t>#predicted probs, values of dependent variable. *Note need as.numeric specification for below</a:t>
            </a:r>
            <a:br/>
            <a:br/>
            <a:r>
              <a:rPr sz="1800">
                <a:latin typeface="Courier"/>
              </a:rPr>
              <a:t>perf=</a:t>
            </a:r>
            <a:r>
              <a:rPr sz="1800" b="1">
                <a:solidFill>
                  <a:srgbClr val="007020"/>
                </a:solidFill>
                <a:latin typeface="Courier"/>
              </a:rPr>
              <a:t>performance</a:t>
            </a:r>
            <a:r>
              <a:rPr sz="1800">
                <a:latin typeface="Courier"/>
              </a:rPr>
              <a:t>(ROCR,</a:t>
            </a:r>
            <a:r>
              <a:rPr sz="1800">
                <a:solidFill>
                  <a:srgbClr val="4070A0"/>
                </a:solidFill>
                <a:latin typeface="Courier"/>
              </a:rPr>
              <a:t>"tpr"</a:t>
            </a:r>
            <a:r>
              <a:rPr sz="1800">
                <a:latin typeface="Courier"/>
              </a:rPr>
              <a:t>, </a:t>
            </a:r>
            <a:r>
              <a:rPr sz="1800">
                <a:solidFill>
                  <a:srgbClr val="4070A0"/>
                </a:solidFill>
                <a:latin typeface="Courier"/>
              </a:rPr>
              <a:t>"fpr"</a:t>
            </a:r>
            <a:r>
              <a:rPr sz="1800">
                <a:latin typeface="Courier"/>
              </a:rPr>
              <a:t>) </a:t>
            </a:r>
            <a:r>
              <a:rPr sz="1800" i="1">
                <a:solidFill>
                  <a:srgbClr val="60A0B0"/>
                </a:solidFill>
                <a:latin typeface="Courier"/>
              </a:rPr>
              <a:t># trp is what to plot on y axis and fpr is what to plot on x axis</a:t>
            </a:r>
            <a:br/>
            <a:r>
              <a:rPr sz="1800" b="1">
                <a:solidFill>
                  <a:srgbClr val="007020"/>
                </a:solidFill>
                <a:latin typeface="Courier"/>
              </a:rPr>
              <a:t>plot</a:t>
            </a:r>
            <a:r>
              <a:rPr sz="1800">
                <a:latin typeface="Courier"/>
              </a:rPr>
              <a:t>(perf, </a:t>
            </a:r>
            <a:r>
              <a:rPr sz="1800">
                <a:solidFill>
                  <a:srgbClr val="902000"/>
                </a:solidFill>
                <a:latin typeface="Courier"/>
              </a:rPr>
              <a:t>colorsize=</a:t>
            </a:r>
            <a:r>
              <a:rPr sz="1800">
                <a:latin typeface="Courier"/>
              </a:rPr>
              <a:t>T, </a:t>
            </a:r>
            <a:r>
              <a:rPr sz="1800">
                <a:solidFill>
                  <a:srgbClr val="902000"/>
                </a:solidFill>
                <a:latin typeface="Courier"/>
              </a:rPr>
              <a:t>color=</a:t>
            </a:r>
            <a:r>
              <a:rPr sz="1800">
                <a:solidFill>
                  <a:srgbClr val="4070A0"/>
                </a:solidFill>
                <a:latin typeface="Courier"/>
              </a:rPr>
              <a:t>"red"</a:t>
            </a:r>
            <a:r>
              <a:rPr sz="1800">
                <a:latin typeface="Courier"/>
              </a:rPr>
              <a:t>, </a:t>
            </a:r>
            <a:r>
              <a:rPr sz="1800">
                <a:solidFill>
                  <a:srgbClr val="902000"/>
                </a:solidFill>
                <a:latin typeface="Courier"/>
              </a:rPr>
              <a:t>print.cutoffs.at=</a:t>
            </a:r>
            <a:r>
              <a:rPr sz="1800" b="1">
                <a:solidFill>
                  <a:srgbClr val="007020"/>
                </a:solidFill>
                <a:latin typeface="Courier"/>
              </a:rPr>
              <a:t>seq</a:t>
            </a:r>
            <a:r>
              <a:rPr sz="1800">
                <a:latin typeface="Courier"/>
              </a:rPr>
              <a:t>(</a:t>
            </a:r>
            <a:r>
              <a:rPr sz="1800">
                <a:solidFill>
                  <a:srgbClr val="40A070"/>
                </a:solidFill>
                <a:latin typeface="Courier"/>
              </a:rPr>
              <a:t>0</a:t>
            </a:r>
            <a:r>
              <a:rPr sz="1800">
                <a:latin typeface="Courier"/>
              </a:rPr>
              <a:t>,</a:t>
            </a:r>
            <a:r>
              <a:rPr sz="1800">
                <a:solidFill>
                  <a:srgbClr val="40A070"/>
                </a:solidFill>
                <a:latin typeface="Courier"/>
              </a:rPr>
              <a:t>1</a:t>
            </a:r>
            <a:r>
              <a:rPr sz="1800">
                <a:latin typeface="Courier"/>
              </a:rPr>
              <a:t>,</a:t>
            </a:r>
            <a:r>
              <a:rPr sz="1800">
                <a:solidFill>
                  <a:srgbClr val="40A070"/>
                </a:solidFill>
                <a:latin typeface="Courier"/>
              </a:rPr>
              <a:t>0.1</a:t>
            </a:r>
            <a:r>
              <a:rPr sz="1800">
                <a:latin typeface="Courier"/>
              </a:rPr>
              <a:t>))</a:t>
            </a:r>
            <a:br/>
            <a:r>
              <a:rPr sz="1800" b="1">
                <a:solidFill>
                  <a:srgbClr val="007020"/>
                </a:solidFill>
                <a:latin typeface="Courier"/>
              </a:rPr>
              <a:t>abline</a:t>
            </a:r>
            <a:r>
              <a:rPr sz="1800">
                <a:latin typeface="Courier"/>
              </a:rPr>
              <a:t>(</a:t>
            </a:r>
            <a:r>
              <a:rPr sz="1800">
                <a:solidFill>
                  <a:srgbClr val="902000"/>
                </a:solidFill>
                <a:latin typeface="Courier"/>
              </a:rPr>
              <a:t>a=</a:t>
            </a:r>
            <a:r>
              <a:rPr sz="1800">
                <a:solidFill>
                  <a:srgbClr val="40A070"/>
                </a:solidFill>
                <a:latin typeface="Courier"/>
              </a:rPr>
              <a:t>0</a:t>
            </a:r>
            <a:r>
              <a:rPr sz="1800">
                <a:latin typeface="Courier"/>
              </a:rPr>
              <a:t>, </a:t>
            </a:r>
            <a:r>
              <a:rPr sz="1800">
                <a:solidFill>
                  <a:srgbClr val="902000"/>
                </a:solidFill>
                <a:latin typeface="Courier"/>
              </a:rPr>
              <a:t>b=</a:t>
            </a:r>
            <a:r>
              <a:rPr sz="1800">
                <a:latin typeface="Courier"/>
              </a:rPr>
              <a:t> </a:t>
            </a:r>
            <a:r>
              <a:rPr sz="1800">
                <a:solidFill>
                  <a:srgbClr val="40A070"/>
                </a:solidFill>
                <a:latin typeface="Courier"/>
              </a:rPr>
              <a:t>1</a:t>
            </a:r>
            <a:r>
              <a:rPr sz="1800">
                <a:latin typeface="Courier"/>
              </a:rPr>
              <a:t>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9158E-B82D-1D40-88A0-A840EFE5C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How do we obtain the threshold value from the curve with the highest sensitivity and specificity?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11A7D-CD86-E440-8A5A-C775A97D40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270000" lvl="0" indent="0">
              <a:buNone/>
            </a:pPr>
            <a:r>
              <a:rPr sz="1800">
                <a:latin typeface="Courier"/>
              </a:rPr>
              <a:t>ss &lt;-</a:t>
            </a:r>
            <a:r>
              <a:rPr sz="1800">
                <a:solidFill>
                  <a:srgbClr val="4070A0"/>
                </a:solidFill>
                <a:latin typeface="Courier"/>
              </a:rPr>
              <a:t> </a:t>
            </a:r>
            <a:r>
              <a:rPr sz="1800" b="1">
                <a:solidFill>
                  <a:srgbClr val="007020"/>
                </a:solidFill>
                <a:latin typeface="Courier"/>
              </a:rPr>
              <a:t>performance</a:t>
            </a:r>
            <a:r>
              <a:rPr sz="1800">
                <a:latin typeface="Courier"/>
              </a:rPr>
              <a:t>(ROCR, </a:t>
            </a:r>
            <a:r>
              <a:rPr sz="1800">
                <a:solidFill>
                  <a:srgbClr val="4070A0"/>
                </a:solidFill>
                <a:latin typeface="Courier"/>
              </a:rPr>
              <a:t>"sens"</a:t>
            </a:r>
            <a:r>
              <a:rPr sz="1800">
                <a:latin typeface="Courier"/>
              </a:rPr>
              <a:t>, </a:t>
            </a:r>
            <a:r>
              <a:rPr sz="1800">
                <a:solidFill>
                  <a:srgbClr val="4070A0"/>
                </a:solidFill>
                <a:latin typeface="Courier"/>
              </a:rPr>
              <a:t>"spec"</a:t>
            </a:r>
            <a:r>
              <a:rPr sz="1800">
                <a:latin typeface="Courier"/>
              </a:rPr>
              <a:t>)</a:t>
            </a:r>
            <a:br/>
            <a:r>
              <a:rPr sz="1800" b="1">
                <a:solidFill>
                  <a:srgbClr val="007020"/>
                </a:solidFill>
                <a:latin typeface="Courier"/>
              </a:rPr>
              <a:t>plot</a:t>
            </a:r>
            <a:r>
              <a:rPr sz="1800">
                <a:latin typeface="Courier"/>
              </a:rPr>
              <a:t>(ss)</a:t>
            </a:r>
            <a:br/>
            <a:r>
              <a:rPr sz="1800">
                <a:latin typeface="Courier"/>
              </a:rPr>
              <a:t>ssval&lt;-ss</a:t>
            </a:r>
            <a:r>
              <a:rPr sz="1800">
                <a:solidFill>
                  <a:srgbClr val="666666"/>
                </a:solidFill>
                <a:latin typeface="Courier"/>
              </a:rPr>
              <a:t>@</a:t>
            </a:r>
            <a:r>
              <a:rPr sz="1800">
                <a:latin typeface="Courier"/>
              </a:rPr>
              <a:t>alpha.values[[</a:t>
            </a:r>
            <a:r>
              <a:rPr sz="1800">
                <a:solidFill>
                  <a:srgbClr val="40A070"/>
                </a:solidFill>
                <a:latin typeface="Courier"/>
              </a:rPr>
              <a:t>1</a:t>
            </a:r>
            <a:r>
              <a:rPr sz="1800">
                <a:latin typeface="Courier"/>
              </a:rPr>
              <a:t>]][</a:t>
            </a:r>
            <a:r>
              <a:rPr sz="1800" b="1">
                <a:solidFill>
                  <a:srgbClr val="007020"/>
                </a:solidFill>
                <a:latin typeface="Courier"/>
              </a:rPr>
              <a:t>which.max</a:t>
            </a:r>
            <a:r>
              <a:rPr sz="1800">
                <a:latin typeface="Courier"/>
              </a:rPr>
              <a:t>(ss</a:t>
            </a:r>
            <a:r>
              <a:rPr sz="1800">
                <a:solidFill>
                  <a:srgbClr val="666666"/>
                </a:solidFill>
                <a:latin typeface="Courier"/>
              </a:rPr>
              <a:t>@</a:t>
            </a:r>
            <a:r>
              <a:rPr sz="1800">
                <a:latin typeface="Courier"/>
              </a:rPr>
              <a:t>x.values[[</a:t>
            </a:r>
            <a:r>
              <a:rPr sz="1800">
                <a:solidFill>
                  <a:srgbClr val="40A070"/>
                </a:solidFill>
                <a:latin typeface="Courier"/>
              </a:rPr>
              <a:t>1</a:t>
            </a:r>
            <a:r>
              <a:rPr sz="1800">
                <a:latin typeface="Courier"/>
              </a:rPr>
              <a:t>]]</a:t>
            </a:r>
            <a:r>
              <a:rPr sz="1800">
                <a:solidFill>
                  <a:srgbClr val="666666"/>
                </a:solidFill>
                <a:latin typeface="Courier"/>
              </a:rPr>
              <a:t>+</a:t>
            </a:r>
            <a:r>
              <a:rPr sz="1800">
                <a:latin typeface="Courier"/>
              </a:rPr>
              <a:t>ss</a:t>
            </a:r>
            <a:r>
              <a:rPr sz="1800">
                <a:solidFill>
                  <a:srgbClr val="666666"/>
                </a:solidFill>
                <a:latin typeface="Courier"/>
              </a:rPr>
              <a:t>@</a:t>
            </a:r>
            <a:r>
              <a:rPr sz="1800">
                <a:latin typeface="Courier"/>
              </a:rPr>
              <a:t>y.values[[</a:t>
            </a:r>
            <a:r>
              <a:rPr sz="1800">
                <a:solidFill>
                  <a:srgbClr val="40A070"/>
                </a:solidFill>
                <a:latin typeface="Courier"/>
              </a:rPr>
              <a:t>1</a:t>
            </a:r>
            <a:r>
              <a:rPr sz="1800">
                <a:latin typeface="Courier"/>
              </a:rPr>
              <a:t>]])]</a:t>
            </a:r>
            <a:br/>
            <a:r>
              <a:rPr sz="1800">
                <a:latin typeface="Courier"/>
              </a:rPr>
              <a:t>ssval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9158E-B82D-1D40-88A0-A840EFE5C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Set threshold at 0.5014917 and get “confusion matrix” (just a two by two table)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11A7D-CD86-E440-8A5A-C775A97D40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270000" lvl="0" indent="0">
              <a:buNone/>
            </a:pPr>
            <a:r>
              <a:rPr sz="1800">
                <a:latin typeface="Courier"/>
              </a:rPr>
              <a:t>t=</a:t>
            </a:r>
            <a:r>
              <a:rPr sz="1800">
                <a:solidFill>
                  <a:srgbClr val="40A070"/>
                </a:solidFill>
                <a:latin typeface="Courier"/>
              </a:rPr>
              <a:t>0.5014917</a:t>
            </a:r>
            <a:br/>
            <a:r>
              <a:rPr sz="1800">
                <a:latin typeface="Courier"/>
              </a:rPr>
              <a:t>pred_class=</a:t>
            </a:r>
            <a:r>
              <a:rPr sz="1800" b="1">
                <a:solidFill>
                  <a:srgbClr val="007020"/>
                </a:solidFill>
                <a:latin typeface="Courier"/>
              </a:rPr>
              <a:t>ifelse</a:t>
            </a:r>
            <a:r>
              <a:rPr sz="1800">
                <a:latin typeface="Courier"/>
              </a:rPr>
              <a:t>(preds</a:t>
            </a:r>
            <a:r>
              <a:rPr sz="1800">
                <a:solidFill>
                  <a:srgbClr val="666666"/>
                </a:solidFill>
                <a:latin typeface="Courier"/>
              </a:rPr>
              <a:t>&gt;</a:t>
            </a:r>
            <a:r>
              <a:rPr sz="1800">
                <a:latin typeface="Courier"/>
              </a:rPr>
              <a:t>t, </a:t>
            </a:r>
            <a:r>
              <a:rPr sz="1800">
                <a:solidFill>
                  <a:srgbClr val="4070A0"/>
                </a:solidFill>
                <a:latin typeface="Courier"/>
              </a:rPr>
              <a:t>'Diabetes'</a:t>
            </a:r>
            <a:r>
              <a:rPr sz="1800">
                <a:latin typeface="Courier"/>
              </a:rPr>
              <a:t>,</a:t>
            </a:r>
            <a:r>
              <a:rPr sz="1800">
                <a:solidFill>
                  <a:srgbClr val="4070A0"/>
                </a:solidFill>
                <a:latin typeface="Courier"/>
              </a:rPr>
              <a:t>'No Diabetes'</a:t>
            </a:r>
            <a:r>
              <a:rPr sz="1800">
                <a:latin typeface="Courier"/>
              </a:rPr>
              <a:t>)</a:t>
            </a:r>
            <a:br/>
            <a:r>
              <a:rPr sz="1800" b="1">
                <a:solidFill>
                  <a:srgbClr val="007020"/>
                </a:solidFill>
                <a:latin typeface="Courier"/>
              </a:rPr>
              <a:t>addmargins</a:t>
            </a:r>
            <a:r>
              <a:rPr sz="1800">
                <a:latin typeface="Courier"/>
              </a:rPr>
              <a:t>(</a:t>
            </a:r>
            <a:r>
              <a:rPr sz="1800" b="1">
                <a:solidFill>
                  <a:srgbClr val="007020"/>
                </a:solidFill>
                <a:latin typeface="Courier"/>
              </a:rPr>
              <a:t>table</a:t>
            </a:r>
            <a:r>
              <a:rPr sz="1800">
                <a:latin typeface="Courier"/>
              </a:rPr>
              <a:t>(</a:t>
            </a:r>
            <a:r>
              <a:rPr sz="1800">
                <a:solidFill>
                  <a:srgbClr val="902000"/>
                </a:solidFill>
                <a:latin typeface="Courier"/>
              </a:rPr>
              <a:t>pred_class=</a:t>
            </a:r>
            <a:r>
              <a:rPr sz="1800">
                <a:latin typeface="Courier"/>
              </a:rPr>
              <a:t>pred_class,</a:t>
            </a:r>
            <a:r>
              <a:rPr sz="1800">
                <a:solidFill>
                  <a:srgbClr val="902000"/>
                </a:solidFill>
                <a:latin typeface="Courier"/>
              </a:rPr>
              <a:t>observed=</a:t>
            </a:r>
            <a:r>
              <a:rPr sz="1800">
                <a:latin typeface="Courier"/>
              </a:rPr>
              <a:t>BRFSS_balance</a:t>
            </a:r>
            <a:r>
              <a:rPr sz="1800">
                <a:solidFill>
                  <a:srgbClr val="666666"/>
                </a:solidFill>
                <a:latin typeface="Courier"/>
              </a:rPr>
              <a:t>$</a:t>
            </a:r>
            <a:r>
              <a:rPr sz="1800">
                <a:latin typeface="Courier"/>
              </a:rPr>
              <a:t>diabetes_binary))</a:t>
            </a:r>
          </a:p>
          <a:p>
            <a:pPr marL="1270000" lvl="0" indent="0">
              <a:buNone/>
            </a:pPr>
            <a:r>
              <a:rPr sz="1800">
                <a:latin typeface="Courier"/>
              </a:rPr>
              <a:t>sensitivity=</a:t>
            </a:r>
            <a:r>
              <a:rPr sz="1800">
                <a:solidFill>
                  <a:srgbClr val="40A070"/>
                </a:solidFill>
                <a:latin typeface="Courier"/>
              </a:rPr>
              <a:t>4237</a:t>
            </a:r>
            <a:r>
              <a:rPr sz="1800">
                <a:solidFill>
                  <a:srgbClr val="666666"/>
                </a:solidFill>
                <a:latin typeface="Courier"/>
              </a:rPr>
              <a:t>/</a:t>
            </a:r>
            <a:r>
              <a:rPr sz="1800">
                <a:latin typeface="Courier"/>
              </a:rPr>
              <a:t>(</a:t>
            </a:r>
            <a:r>
              <a:rPr sz="1800">
                <a:solidFill>
                  <a:srgbClr val="40A070"/>
                </a:solidFill>
                <a:latin typeface="Courier"/>
              </a:rPr>
              <a:t>5907</a:t>
            </a:r>
            <a:r>
              <a:rPr sz="1800">
                <a:latin typeface="Courier"/>
              </a:rPr>
              <a:t>) </a:t>
            </a:r>
            <a:r>
              <a:rPr sz="1800" i="1">
                <a:solidFill>
                  <a:srgbClr val="60A0B0"/>
                </a:solidFill>
                <a:latin typeface="Courier"/>
              </a:rPr>
              <a:t>#also known as recall</a:t>
            </a:r>
            <a:br/>
            <a:r>
              <a:rPr sz="1800">
                <a:latin typeface="Courier"/>
              </a:rPr>
              <a:t>sensitivity</a:t>
            </a:r>
            <a:br/>
            <a:r>
              <a:rPr sz="1800">
                <a:latin typeface="Courier"/>
              </a:rPr>
              <a:t> </a:t>
            </a:r>
            <a:br/>
            <a:r>
              <a:rPr sz="1800">
                <a:latin typeface="Courier"/>
              </a:rPr>
              <a:t>specificity=</a:t>
            </a:r>
            <a:r>
              <a:rPr sz="1800">
                <a:solidFill>
                  <a:srgbClr val="40A070"/>
                </a:solidFill>
                <a:latin typeface="Courier"/>
              </a:rPr>
              <a:t>3726</a:t>
            </a:r>
            <a:r>
              <a:rPr sz="1800">
                <a:solidFill>
                  <a:srgbClr val="666666"/>
                </a:solidFill>
                <a:latin typeface="Courier"/>
              </a:rPr>
              <a:t>/</a:t>
            </a:r>
            <a:r>
              <a:rPr sz="1800">
                <a:latin typeface="Courier"/>
              </a:rPr>
              <a:t>(</a:t>
            </a:r>
            <a:r>
              <a:rPr sz="1800">
                <a:solidFill>
                  <a:srgbClr val="40A070"/>
                </a:solidFill>
                <a:latin typeface="Courier"/>
              </a:rPr>
              <a:t>5831</a:t>
            </a:r>
            <a:r>
              <a:rPr sz="1800">
                <a:latin typeface="Courier"/>
              </a:rPr>
              <a:t>)</a:t>
            </a:r>
            <a:br/>
            <a:r>
              <a:rPr sz="1800">
                <a:latin typeface="Courier"/>
              </a:rPr>
              <a:t>specificity</a:t>
            </a:r>
            <a:br/>
            <a:br/>
            <a:r>
              <a:rPr sz="1800">
                <a:latin typeface="Courier"/>
              </a:rPr>
              <a:t>PPV=</a:t>
            </a:r>
            <a:r>
              <a:rPr sz="1800">
                <a:solidFill>
                  <a:srgbClr val="40A070"/>
                </a:solidFill>
                <a:latin typeface="Courier"/>
              </a:rPr>
              <a:t>4237</a:t>
            </a:r>
            <a:r>
              <a:rPr sz="1800">
                <a:solidFill>
                  <a:srgbClr val="666666"/>
                </a:solidFill>
                <a:latin typeface="Courier"/>
              </a:rPr>
              <a:t>/</a:t>
            </a:r>
            <a:r>
              <a:rPr sz="1800">
                <a:latin typeface="Courier"/>
              </a:rPr>
              <a:t>(</a:t>
            </a:r>
            <a:r>
              <a:rPr sz="1800">
                <a:solidFill>
                  <a:srgbClr val="40A070"/>
                </a:solidFill>
                <a:latin typeface="Courier"/>
              </a:rPr>
              <a:t>6342</a:t>
            </a:r>
            <a:r>
              <a:rPr sz="1800">
                <a:latin typeface="Courier"/>
              </a:rPr>
              <a:t>) </a:t>
            </a:r>
            <a:r>
              <a:rPr sz="1800" i="1">
                <a:solidFill>
                  <a:srgbClr val="60A0B0"/>
                </a:solidFill>
                <a:latin typeface="Courier"/>
              </a:rPr>
              <a:t>#also known as precision</a:t>
            </a:r>
            <a:br/>
            <a:r>
              <a:rPr sz="1800">
                <a:latin typeface="Courier"/>
              </a:rPr>
              <a:t>PPV</a:t>
            </a:r>
            <a:br/>
            <a:br/>
            <a:r>
              <a:rPr sz="1800">
                <a:latin typeface="Courier"/>
              </a:rPr>
              <a:t>accuracy=(</a:t>
            </a:r>
            <a:r>
              <a:rPr sz="1800">
                <a:solidFill>
                  <a:srgbClr val="40A070"/>
                </a:solidFill>
                <a:latin typeface="Courier"/>
              </a:rPr>
              <a:t>3726</a:t>
            </a:r>
            <a:r>
              <a:rPr sz="1800">
                <a:solidFill>
                  <a:srgbClr val="666666"/>
                </a:solidFill>
                <a:latin typeface="Courier"/>
              </a:rPr>
              <a:t>+</a:t>
            </a:r>
            <a:r>
              <a:rPr sz="1800">
                <a:solidFill>
                  <a:srgbClr val="40A070"/>
                </a:solidFill>
                <a:latin typeface="Courier"/>
              </a:rPr>
              <a:t>4237</a:t>
            </a:r>
            <a:r>
              <a:rPr sz="1800">
                <a:latin typeface="Courier"/>
              </a:rPr>
              <a:t>)</a:t>
            </a:r>
            <a:r>
              <a:rPr sz="1800">
                <a:solidFill>
                  <a:srgbClr val="666666"/>
                </a:solidFill>
                <a:latin typeface="Courier"/>
              </a:rPr>
              <a:t>/</a:t>
            </a:r>
            <a:r>
              <a:rPr sz="1800">
                <a:latin typeface="Courier"/>
              </a:rPr>
              <a:t>(</a:t>
            </a:r>
            <a:r>
              <a:rPr sz="1800">
                <a:solidFill>
                  <a:srgbClr val="40A070"/>
                </a:solidFill>
                <a:latin typeface="Courier"/>
              </a:rPr>
              <a:t>11738</a:t>
            </a:r>
            <a:r>
              <a:rPr sz="1800">
                <a:latin typeface="Courier"/>
              </a:rPr>
              <a:t>)</a:t>
            </a:r>
            <a:br/>
            <a:r>
              <a:rPr sz="1800">
                <a:latin typeface="Courier"/>
              </a:rPr>
              <a:t>accuracy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9158E-B82D-1D40-88A0-A840EFE5C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Area under the ROC curve (AUC)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11A7D-CD86-E440-8A5A-C775A97D40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AUC tells us how good our model is at distinguishing between classes</a:t>
            </a:r>
          </a:p>
          <a:p>
            <a:pPr lvl="1"/>
            <a:r>
              <a:t>It tells us the probability that a randomly chosen true positive case will be ranked higher than a randomly chosen negative case</a:t>
            </a:r>
          </a:p>
          <a:p>
            <a:pPr lvl="1"/>
            <a:r>
              <a:t>The higher the AUC, the better it is at predicting 1’s (or determining patients with diabetes vs. without diabetes)</a:t>
            </a:r>
          </a:p>
          <a:p>
            <a:pPr lvl="1"/>
            <a:r>
              <a:t>An AUC of 0.5 means you could just as well flip a coin to determine who has diabetes and who does not AUC=1 AUC=0.7 AUC=0.5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9158E-B82D-1D40-88A0-A840EFE5C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To get the AUC we can use the performance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11A7D-CD86-E440-8A5A-C775A97D40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270000" lvl="0" indent="0">
              <a:buNone/>
            </a:pPr>
            <a:r>
              <a:rPr sz="1800">
                <a:latin typeface="Courier"/>
              </a:rPr>
              <a:t>auc.perf =</a:t>
            </a:r>
            <a:r>
              <a:rPr sz="1800">
                <a:solidFill>
                  <a:srgbClr val="4070A0"/>
                </a:solidFill>
                <a:latin typeface="Courier"/>
              </a:rPr>
              <a:t> </a:t>
            </a:r>
            <a:r>
              <a:rPr sz="1800" b="1">
                <a:solidFill>
                  <a:srgbClr val="007020"/>
                </a:solidFill>
                <a:latin typeface="Courier"/>
              </a:rPr>
              <a:t>performance</a:t>
            </a:r>
            <a:r>
              <a:rPr sz="1800">
                <a:latin typeface="Courier"/>
              </a:rPr>
              <a:t>(ROCR, </a:t>
            </a:r>
            <a:r>
              <a:rPr sz="1800">
                <a:solidFill>
                  <a:srgbClr val="902000"/>
                </a:solidFill>
                <a:latin typeface="Courier"/>
              </a:rPr>
              <a:t>measure =</a:t>
            </a:r>
            <a:r>
              <a:rPr sz="1800">
                <a:latin typeface="Courier"/>
              </a:rPr>
              <a:t> </a:t>
            </a:r>
            <a:r>
              <a:rPr sz="1800">
                <a:solidFill>
                  <a:srgbClr val="4070A0"/>
                </a:solidFill>
                <a:latin typeface="Courier"/>
              </a:rPr>
              <a:t>"auc"</a:t>
            </a:r>
            <a:r>
              <a:rPr sz="1800">
                <a:latin typeface="Courier"/>
              </a:rPr>
              <a:t>)</a:t>
            </a:r>
            <a:br/>
            <a:r>
              <a:rPr sz="1800">
                <a:latin typeface="Courier"/>
              </a:rPr>
              <a:t>auc.perf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9158E-B82D-1D40-88A0-A840EFE5C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What happens to our AUC if we add income to our model?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11A7D-CD86-E440-8A5A-C775A97D40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270000" lvl="0" indent="0">
              <a:buNone/>
            </a:pPr>
            <a:r>
              <a:rPr sz="1800">
                <a:latin typeface="Courier"/>
              </a:rPr>
              <a:t>bmi_cont_logitc &lt;-</a:t>
            </a:r>
            <a:r>
              <a:rPr sz="1800">
                <a:solidFill>
                  <a:srgbClr val="4070A0"/>
                </a:solidFill>
                <a:latin typeface="Courier"/>
              </a:rPr>
              <a:t> </a:t>
            </a:r>
            <a:r>
              <a:rPr sz="1800" b="1">
                <a:solidFill>
                  <a:srgbClr val="007020"/>
                </a:solidFill>
                <a:latin typeface="Courier"/>
              </a:rPr>
              <a:t>glm</a:t>
            </a:r>
            <a:r>
              <a:rPr sz="1800">
                <a:latin typeface="Courier"/>
              </a:rPr>
              <a:t>(diabetes_binary </a:t>
            </a:r>
            <a:r>
              <a:rPr sz="1800">
                <a:solidFill>
                  <a:srgbClr val="666666"/>
                </a:solidFill>
                <a:latin typeface="Courier"/>
              </a:rPr>
              <a:t>~</a:t>
            </a:r>
            <a:r>
              <a:rPr sz="1800">
                <a:latin typeface="Courier"/>
              </a:rPr>
              <a:t>bmi </a:t>
            </a:r>
            <a:r>
              <a:rPr sz="1800">
                <a:solidFill>
                  <a:srgbClr val="666666"/>
                </a:solidFill>
                <a:latin typeface="Courier"/>
              </a:rPr>
              <a:t>+</a:t>
            </a:r>
            <a:r>
              <a:rPr sz="1800">
                <a:solidFill>
                  <a:srgbClr val="4070A0"/>
                </a:solidFill>
                <a:latin typeface="Courier"/>
              </a:rPr>
              <a:t> </a:t>
            </a:r>
            <a:r>
              <a:rPr sz="1800">
                <a:latin typeface="Courier"/>
              </a:rPr>
              <a:t>X_AGE80 </a:t>
            </a:r>
            <a:r>
              <a:rPr sz="1800">
                <a:solidFill>
                  <a:srgbClr val="666666"/>
                </a:solidFill>
                <a:latin typeface="Courier"/>
              </a:rPr>
              <a:t>+</a:t>
            </a:r>
            <a:r>
              <a:rPr sz="1800">
                <a:solidFill>
                  <a:srgbClr val="4070A0"/>
                </a:solidFill>
                <a:latin typeface="Courier"/>
              </a:rPr>
              <a:t> </a:t>
            </a:r>
            <a:r>
              <a:rPr sz="1800">
                <a:latin typeface="Courier"/>
              </a:rPr>
              <a:t>sex </a:t>
            </a:r>
            <a:r>
              <a:rPr sz="1800">
                <a:solidFill>
                  <a:srgbClr val="666666"/>
                </a:solidFill>
                <a:latin typeface="Courier"/>
              </a:rPr>
              <a:t>+</a:t>
            </a:r>
            <a:r>
              <a:rPr sz="1800">
                <a:solidFill>
                  <a:srgbClr val="4070A0"/>
                </a:solidFill>
                <a:latin typeface="Courier"/>
              </a:rPr>
              <a:t> </a:t>
            </a:r>
            <a:r>
              <a:rPr sz="1800">
                <a:latin typeface="Courier"/>
              </a:rPr>
              <a:t>income, </a:t>
            </a:r>
            <a:r>
              <a:rPr sz="1800">
                <a:solidFill>
                  <a:srgbClr val="902000"/>
                </a:solidFill>
                <a:latin typeface="Courier"/>
              </a:rPr>
              <a:t>data=</a:t>
            </a:r>
            <a:r>
              <a:rPr sz="1800">
                <a:latin typeface="Courier"/>
              </a:rPr>
              <a:t>BRFSS_balance, </a:t>
            </a:r>
            <a:r>
              <a:rPr sz="1800">
                <a:solidFill>
                  <a:srgbClr val="902000"/>
                </a:solidFill>
                <a:latin typeface="Courier"/>
              </a:rPr>
              <a:t>family=</a:t>
            </a:r>
            <a:r>
              <a:rPr sz="1800">
                <a:solidFill>
                  <a:srgbClr val="4070A0"/>
                </a:solidFill>
                <a:latin typeface="Courier"/>
              </a:rPr>
              <a:t>"binomial"</a:t>
            </a:r>
            <a:r>
              <a:rPr sz="1800">
                <a:latin typeface="Courier"/>
              </a:rPr>
              <a:t>)</a:t>
            </a:r>
            <a:br/>
            <a:r>
              <a:rPr sz="1800">
                <a:latin typeface="Courier"/>
              </a:rPr>
              <a:t>  </a:t>
            </a:r>
            <a:r>
              <a:rPr sz="1800" b="1">
                <a:solidFill>
                  <a:srgbClr val="007020"/>
                </a:solidFill>
                <a:latin typeface="Courier"/>
              </a:rPr>
              <a:t>summary</a:t>
            </a:r>
            <a:r>
              <a:rPr sz="1800">
                <a:latin typeface="Courier"/>
              </a:rPr>
              <a:t>(bmi_cont_logitc)</a:t>
            </a:r>
            <a:br/>
            <a:br/>
            <a:r>
              <a:rPr sz="1800">
                <a:latin typeface="Courier"/>
              </a:rPr>
              <a:t>preds&lt;-</a:t>
            </a:r>
            <a:r>
              <a:rPr sz="1800" b="1">
                <a:solidFill>
                  <a:srgbClr val="007020"/>
                </a:solidFill>
                <a:latin typeface="Courier"/>
              </a:rPr>
              <a:t>predict</a:t>
            </a:r>
            <a:r>
              <a:rPr sz="1800">
                <a:latin typeface="Courier"/>
              </a:rPr>
              <a:t>(bmi_cont_logitc, </a:t>
            </a:r>
            <a:r>
              <a:rPr sz="1800">
                <a:solidFill>
                  <a:srgbClr val="902000"/>
                </a:solidFill>
                <a:latin typeface="Courier"/>
              </a:rPr>
              <a:t>newdata=</a:t>
            </a:r>
            <a:r>
              <a:rPr sz="1800">
                <a:latin typeface="Courier"/>
              </a:rPr>
              <a:t>BRFSS_balance, </a:t>
            </a:r>
            <a:r>
              <a:rPr sz="1800">
                <a:solidFill>
                  <a:srgbClr val="902000"/>
                </a:solidFill>
                <a:latin typeface="Courier"/>
              </a:rPr>
              <a:t>type=</a:t>
            </a:r>
            <a:r>
              <a:rPr sz="1800">
                <a:solidFill>
                  <a:srgbClr val="4070A0"/>
                </a:solidFill>
                <a:latin typeface="Courier"/>
              </a:rPr>
              <a:t>'response'</a:t>
            </a:r>
            <a:r>
              <a:rPr sz="1800">
                <a:latin typeface="Courier"/>
              </a:rPr>
              <a:t>)</a:t>
            </a:r>
            <a:br/>
            <a:r>
              <a:rPr sz="1800">
                <a:latin typeface="Courier"/>
              </a:rPr>
              <a:t>ROCR=</a:t>
            </a:r>
            <a:r>
              <a:rPr sz="1800" b="1">
                <a:solidFill>
                  <a:srgbClr val="007020"/>
                </a:solidFill>
                <a:latin typeface="Courier"/>
              </a:rPr>
              <a:t>prediction</a:t>
            </a:r>
            <a:r>
              <a:rPr sz="1800">
                <a:latin typeface="Courier"/>
              </a:rPr>
              <a:t>(</a:t>
            </a:r>
            <a:r>
              <a:rPr sz="1800" b="1">
                <a:solidFill>
                  <a:srgbClr val="007020"/>
                </a:solidFill>
                <a:latin typeface="Courier"/>
              </a:rPr>
              <a:t>as.numeric</a:t>
            </a:r>
            <a:r>
              <a:rPr sz="1800">
                <a:latin typeface="Courier"/>
              </a:rPr>
              <a:t>(preds),  </a:t>
            </a:r>
            <a:r>
              <a:rPr sz="1800" b="1">
                <a:solidFill>
                  <a:srgbClr val="007020"/>
                </a:solidFill>
                <a:latin typeface="Courier"/>
              </a:rPr>
              <a:t>as.numeric</a:t>
            </a:r>
            <a:r>
              <a:rPr sz="1800">
                <a:latin typeface="Courier"/>
              </a:rPr>
              <a:t>(BRFSS_balance</a:t>
            </a:r>
            <a:r>
              <a:rPr sz="1800">
                <a:solidFill>
                  <a:srgbClr val="666666"/>
                </a:solidFill>
                <a:latin typeface="Courier"/>
              </a:rPr>
              <a:t>$</a:t>
            </a:r>
            <a:r>
              <a:rPr sz="1800">
                <a:latin typeface="Courier"/>
              </a:rPr>
              <a:t>diabetes_binary)) </a:t>
            </a:r>
            <a:r>
              <a:rPr sz="1800" i="1">
                <a:solidFill>
                  <a:srgbClr val="60A0B0"/>
                </a:solidFill>
                <a:latin typeface="Courier"/>
              </a:rPr>
              <a:t>#predicted probs, values of dependent variable</a:t>
            </a:r>
            <a:br/>
            <a:br/>
            <a:r>
              <a:rPr sz="1800">
                <a:latin typeface="Courier"/>
              </a:rPr>
              <a:t>auc.perf =</a:t>
            </a:r>
            <a:r>
              <a:rPr sz="1800">
                <a:solidFill>
                  <a:srgbClr val="4070A0"/>
                </a:solidFill>
                <a:latin typeface="Courier"/>
              </a:rPr>
              <a:t> </a:t>
            </a:r>
            <a:r>
              <a:rPr sz="1800" b="1">
                <a:solidFill>
                  <a:srgbClr val="007020"/>
                </a:solidFill>
                <a:latin typeface="Courier"/>
              </a:rPr>
              <a:t>performance</a:t>
            </a:r>
            <a:r>
              <a:rPr sz="1800">
                <a:latin typeface="Courier"/>
              </a:rPr>
              <a:t>(ROCR, </a:t>
            </a:r>
            <a:r>
              <a:rPr sz="1800">
                <a:solidFill>
                  <a:srgbClr val="902000"/>
                </a:solidFill>
                <a:latin typeface="Courier"/>
              </a:rPr>
              <a:t>measure =</a:t>
            </a:r>
            <a:r>
              <a:rPr sz="1800">
                <a:latin typeface="Courier"/>
              </a:rPr>
              <a:t> </a:t>
            </a:r>
            <a:r>
              <a:rPr sz="1800">
                <a:solidFill>
                  <a:srgbClr val="4070A0"/>
                </a:solidFill>
                <a:latin typeface="Courier"/>
              </a:rPr>
              <a:t>"auc"</a:t>
            </a:r>
            <a:r>
              <a:rPr sz="1800">
                <a:latin typeface="Courier"/>
              </a:rPr>
              <a:t>)</a:t>
            </a:r>
            <a:br/>
            <a:r>
              <a:rPr sz="1800">
                <a:latin typeface="Courier"/>
              </a:rPr>
              <a:t>auc.perf</a:t>
            </a:r>
            <a:r>
              <a:rPr sz="1800">
                <a:solidFill>
                  <a:srgbClr val="666666"/>
                </a:solidFill>
                <a:latin typeface="Courier"/>
              </a:rPr>
              <a:t>@</a:t>
            </a:r>
            <a:r>
              <a:rPr sz="1800">
                <a:latin typeface="Courier"/>
              </a:rPr>
              <a:t>y.values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9158E-B82D-1D40-88A0-A840EFE5C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Limitations of using logistic as a classifier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11A7D-CD86-E440-8A5A-C775A97D40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Many problems in public health are multifactorial and rare leading to unbalanced samples (where classification requires balancing to perform at acceptable levels of sensitivity and specificity)</a:t>
            </a:r>
          </a:p>
          <a:p>
            <a:pPr lvl="1"/>
            <a:r>
              <a:t>Training a model using an artificially balanced sample may not be generalizable to a test set</a:t>
            </a:r>
          </a:p>
          <a:p>
            <a:pPr lvl="1"/>
            <a:r>
              <a:t>Difficult to predict whether something is or is not when risk factors are weak–better to use logistic regression to estimate risk or the probability of developing an outcome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9158E-B82D-1D40-88A0-A840EFE5C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Refs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11A7D-CD86-E440-8A5A-C775A97D40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>
                <a:hlinkClick r:id="rId2"/>
              </a:rPr>
              <a:t>https://www.r-bloggers.com/a-small-introduction-to-the-rocr-package/</a:t>
            </a:r>
            <a:r>
              <a:t> </a:t>
            </a:r>
            <a:r>
              <a:rPr>
                <a:hlinkClick r:id="rId3"/>
              </a:rPr>
              <a:t>https://www.youtube.com/watch?v=7eHumx3-xR0</a:t>
            </a:r>
            <a:r>
              <a:t> </a:t>
            </a:r>
            <a:r>
              <a:rPr>
                <a:hlinkClick r:id="rId4"/>
              </a:rPr>
              <a:t>https://towardsdatascience.com/understanding-auc-roc-curve-68b2303cc9c5</a:t>
            </a:r>
            <a:r>
              <a:t> </a:t>
            </a:r>
            <a:r>
              <a:rPr>
                <a:hlinkClick r:id="rId5"/>
              </a:rPr>
              <a:t>https://en.wikipedia.org/wiki/Receiver_operating_characteristic</a:t>
            </a:r>
            <a:r>
              <a:t> </a:t>
            </a:r>
            <a:r>
              <a:rPr>
                <a:hlinkClick r:id="rId6"/>
              </a:rPr>
              <a:t>https://www.knime.com/blog/correcting-predicted-class-probabilities-in-imbalanced-datasets</a:t>
            </a:r>
            <a:r>
              <a:t> </a:t>
            </a:r>
            <a:r>
              <a:rPr>
                <a:hlinkClick r:id="rId7"/>
              </a:rPr>
              <a:t>https://www.fharrell.com/post/classification/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2762</Words>
  <Application>Microsoft Macintosh PowerPoint</Application>
  <PresentationFormat>Widescreen</PresentationFormat>
  <Paragraphs>89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Calibri</vt:lpstr>
      <vt:lpstr>Calibri Light</vt:lpstr>
      <vt:lpstr>Courier</vt:lpstr>
      <vt:lpstr>Office Theme</vt:lpstr>
      <vt:lpstr>Class Six–Logistic regression as a classifier</vt:lpstr>
      <vt:lpstr>Learning objectives</vt:lpstr>
      <vt:lpstr>What is validity?</vt:lpstr>
      <vt:lpstr>Recall 2 x 2 table set-up for calculating measures of validity</vt:lpstr>
      <vt:lpstr>Positive and negative predictive values</vt:lpstr>
      <vt:lpstr>Cutpoints for continous variables impact on sensitivity and specificity</vt:lpstr>
      <vt:lpstr>Prediction vs. classification</vt:lpstr>
      <vt:lpstr>Logistic regression</vt:lpstr>
      <vt:lpstr>Examples</vt:lpstr>
      <vt:lpstr>PowerPoint Presentation</vt:lpstr>
      <vt:lpstr>Let’s use logistic regression as a classifier for diabetes in the BRFSS dataset</vt:lpstr>
      <vt:lpstr>Load dataset</vt:lpstr>
      <vt:lpstr>Let’s combine the no’s and yes’s and exclude “Don’t know/Not sure” and “Refused”</vt:lpstr>
      <vt:lpstr>Let’s also recode BMI into 4 categories</vt:lpstr>
      <vt:lpstr>Run a logistic model with diabetes_binary as the dependent variable and bmi_cat as the independent variable</vt:lpstr>
      <vt:lpstr>Get model predicted probabilities that an observation is a 1 vs. a 0</vt:lpstr>
      <vt:lpstr>Make dataset of predicted probabilities and true diabetes label, plot probabilities by diabetes, and get sensitivity and specificity</vt:lpstr>
      <vt:lpstr>A note on model prediction accuracy</vt:lpstr>
      <vt:lpstr>What if bmi is treated as a continuous variable? What happens to sensitivity?</vt:lpstr>
      <vt:lpstr>What if we add a few more predictors? What happens to sensitivity?</vt:lpstr>
      <vt:lpstr>What happens if we balance the 1s and 0s?</vt:lpstr>
      <vt:lpstr>Run model using new data set</vt:lpstr>
      <vt:lpstr>Receiver operating characteristic curves</vt:lpstr>
      <vt:lpstr>ROC curve</vt:lpstr>
      <vt:lpstr>Thresholds</vt:lpstr>
      <vt:lpstr>Plotting ROC curves–we use functions in the ROCR package</vt:lpstr>
      <vt:lpstr>How do we obtain the threshold value from the curve with the highest sensitivity and specificity?</vt:lpstr>
      <vt:lpstr>Set threshold at 0.5014917 and get “confusion matrix” (just a two by two table)</vt:lpstr>
      <vt:lpstr>Area under the ROC curve (AUC)</vt:lpstr>
      <vt:lpstr>To get the AUC we can use the performance function</vt:lpstr>
      <vt:lpstr>What happens to our AUC if we add income to our model?</vt:lpstr>
      <vt:lpstr>Limitations of using logistic as a classifier</vt:lpstr>
      <vt:lpstr>Refs</vt:lpstr>
    </vt:vector>
  </TitlesOfParts>
  <LinksUpToDate>false</LinksUpToDate>
  <SharedDoc>false</SharedDoc>
  <HyperlinksChanged>false</HyperlinksChanged>
  <AppVersion>16.0016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 Six–Logistic regression as a classifier</dc:title>
  <dc:creator>Kim Johnson</dc:creator>
  <cp:keywords/>
  <cp:lastModifiedBy>Johnson, Kim</cp:lastModifiedBy>
  <cp:revision>1</cp:revision>
  <dcterms:created xsi:type="dcterms:W3CDTF">2020-02-18T21:59:51Z</dcterms:created>
  <dcterms:modified xsi:type="dcterms:W3CDTF">2020-02-18T22:01:11Z</dcterms:modified>
</cp:coreProperties>
</file>